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8" r:id="rId3"/>
    <p:sldId id="259" r:id="rId4"/>
    <p:sldId id="260" r:id="rId5"/>
    <p:sldId id="261" r:id="rId6"/>
    <p:sldId id="271" r:id="rId7"/>
    <p:sldId id="262"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68919D-FED5-4DF6-A900-08559684861E}" v="1" dt="2026-06-12T22:07:08.267"/>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ıla kınalı" userId="a62be9d368b625d5" providerId="LiveId" clId="{6D2A6EF4-7CF8-4B40-876B-3D65D22B3E02}"/>
    <pc:docChg chg="undo custSel addSld modSld sldOrd">
      <pc:chgData name="Sıla kınalı" userId="a62be9d368b625d5" providerId="LiveId" clId="{6D2A6EF4-7CF8-4B40-876B-3D65D22B3E02}" dt="2026-06-13T14:33:29.926" v="145" actId="1076"/>
      <pc:docMkLst>
        <pc:docMk/>
      </pc:docMkLst>
      <pc:sldChg chg="addSp delSp modSp mod">
        <pc:chgData name="Sıla kınalı" userId="a62be9d368b625d5" providerId="LiveId" clId="{6D2A6EF4-7CF8-4B40-876B-3D65D22B3E02}" dt="2026-06-11T22:27:10.919" v="104" actId="11529"/>
        <pc:sldMkLst>
          <pc:docMk/>
          <pc:sldMk cId="1443606445" sldId="266"/>
        </pc:sldMkLst>
      </pc:sldChg>
      <pc:sldChg chg="modSp mod">
        <pc:chgData name="Sıla kınalı" userId="a62be9d368b625d5" providerId="LiveId" clId="{6D2A6EF4-7CF8-4B40-876B-3D65D22B3E02}" dt="2026-06-12T22:07:03.633" v="112" actId="1076"/>
        <pc:sldMkLst>
          <pc:docMk/>
          <pc:sldMk cId="3639467622" sldId="269"/>
        </pc:sldMkLst>
        <pc:spChg chg="mod">
          <ac:chgData name="Sıla kınalı" userId="a62be9d368b625d5" providerId="LiveId" clId="{6D2A6EF4-7CF8-4B40-876B-3D65D22B3E02}" dt="2026-06-12T22:07:03.633" v="112" actId="1076"/>
          <ac:spMkLst>
            <pc:docMk/>
            <pc:sldMk cId="3639467622" sldId="269"/>
            <ac:spMk id="3" creationId="{2B6194FD-FEB7-9984-EBD8-F65DE942F634}"/>
          </ac:spMkLst>
        </pc:spChg>
      </pc:sldChg>
      <pc:sldChg chg="addSp delSp modSp mod">
        <pc:chgData name="Sıla kınalı" userId="a62be9d368b625d5" providerId="LiveId" clId="{6D2A6EF4-7CF8-4B40-876B-3D65D22B3E02}" dt="2026-06-13T14:33:29.926" v="145" actId="1076"/>
        <pc:sldMkLst>
          <pc:docMk/>
          <pc:sldMk cId="4238388526" sldId="270"/>
        </pc:sldMkLst>
        <pc:spChg chg="mod">
          <ac:chgData name="Sıla kınalı" userId="a62be9d368b625d5" providerId="LiveId" clId="{6D2A6EF4-7CF8-4B40-876B-3D65D22B3E02}" dt="2026-06-13T14:33:24.392" v="144" actId="1076"/>
          <ac:spMkLst>
            <pc:docMk/>
            <pc:sldMk cId="4238388526" sldId="270"/>
            <ac:spMk id="2" creationId="{5A7DD1D0-FFCA-B836-CE74-E26FB2600A95}"/>
          </ac:spMkLst>
        </pc:spChg>
        <pc:spChg chg="mod">
          <ac:chgData name="Sıla kınalı" userId="a62be9d368b625d5" providerId="LiveId" clId="{6D2A6EF4-7CF8-4B40-876B-3D65D22B3E02}" dt="2026-06-13T14:33:29.926" v="145" actId="1076"/>
          <ac:spMkLst>
            <pc:docMk/>
            <pc:sldMk cId="4238388526" sldId="270"/>
            <ac:spMk id="3" creationId="{86BFB7F7-AF5A-9BED-5BB4-1E41A9B6E0B7}"/>
          </ac:spMkLst>
        </pc:spChg>
        <pc:spChg chg="add del mod">
          <ac:chgData name="Sıla kınalı" userId="a62be9d368b625d5" providerId="LiveId" clId="{6D2A6EF4-7CF8-4B40-876B-3D65D22B3E02}" dt="2026-06-13T14:33:20.867" v="143" actId="21"/>
          <ac:spMkLst>
            <pc:docMk/>
            <pc:sldMk cId="4238388526" sldId="270"/>
            <ac:spMk id="4" creationId="{F31E7094-48CE-25B0-B5DF-4CCFD3CCDB1D}"/>
          </ac:spMkLst>
        </pc:spChg>
      </pc:sldChg>
      <pc:sldChg chg="addSp delSp modSp new mod ord">
        <pc:chgData name="Sıla kınalı" userId="a62be9d368b625d5" providerId="LiveId" clId="{6D2A6EF4-7CF8-4B40-876B-3D65D22B3E02}" dt="2026-06-11T22:25:47.899" v="71" actId="1076"/>
        <pc:sldMkLst>
          <pc:docMk/>
          <pc:sldMk cId="4012825071" sldId="271"/>
        </pc:sldMkLst>
        <pc:spChg chg="mod">
          <ac:chgData name="Sıla kınalı" userId="a62be9d368b625d5" providerId="LiveId" clId="{6D2A6EF4-7CF8-4B40-876B-3D65D22B3E02}" dt="2026-06-11T22:25:15.088" v="67" actId="1076"/>
          <ac:spMkLst>
            <pc:docMk/>
            <pc:sldMk cId="4012825071" sldId="271"/>
            <ac:spMk id="2" creationId="{1E0EAF87-1369-B843-48C0-E3DDAE0DA134}"/>
          </ac:spMkLst>
        </pc:spChg>
        <pc:picChg chg="add mod ord">
          <ac:chgData name="Sıla kınalı" userId="a62be9d368b625d5" providerId="LiveId" clId="{6D2A6EF4-7CF8-4B40-876B-3D65D22B3E02}" dt="2026-06-11T22:25:47.899" v="71" actId="1076"/>
          <ac:picMkLst>
            <pc:docMk/>
            <pc:sldMk cId="4012825071" sldId="271"/>
            <ac:picMk id="6" creationId="{796C58CA-52BA-2EB7-9500-5BFD8A9C7F9A}"/>
          </ac:picMkLst>
        </pc:picChg>
        <pc:picChg chg="add mod ord">
          <ac:chgData name="Sıla kınalı" userId="a62be9d368b625d5" providerId="LiveId" clId="{6D2A6EF4-7CF8-4B40-876B-3D65D22B3E02}" dt="2026-06-11T22:25:44.852" v="70" actId="1076"/>
          <ac:picMkLst>
            <pc:docMk/>
            <pc:sldMk cId="4012825071" sldId="271"/>
            <ac:picMk id="8" creationId="{9D896A6F-049C-D5C5-2BB8-883E9E4A9BD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20D29-C8E9-476D-9CEC-77932F6B6E37}" type="datetimeFigureOut">
              <a:rPr lang="tr-TR" smtClean="0"/>
              <a:t>13.06.2026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FCFA9C-1122-44C2-8360-A109A34291DF}" type="slidenum">
              <a:rPr lang="tr-TR" smtClean="0"/>
              <a:t>‹#›</a:t>
            </a:fld>
            <a:endParaRPr lang="tr-TR"/>
          </a:p>
        </p:txBody>
      </p:sp>
    </p:spTree>
    <p:extLst>
      <p:ext uri="{BB962C8B-B14F-4D97-AF65-F5344CB8AC3E}">
        <p14:creationId xmlns:p14="http://schemas.microsoft.com/office/powerpoint/2010/main" val="1941570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6/13/2026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34E6425-0181-43F2-84FC-787E803FD2F8}"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6/13/2026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6/13/2026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6/13/2026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6E86A4C-8E40-4F87-A4F0-01A0687C5742}" type="datetimeFigureOut">
              <a:rPr lang="en-US" dirty="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tr-TR"/>
              <a:t>Resim eklemek için simgeye tıklayın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35E72C73-2D91-4E12-BA25-F0AA0C03599B}" type="datetimeFigureOut">
              <a:rPr lang="en-US" dirty="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23A1CC3-2375-41D4-9E03-427CAF2A4C1A}" type="datetimeFigureOut">
              <a:rPr lang="en-US" dirty="0"/>
              <a:t>6/13/2026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aşlık ve Resim Yazıs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FF16868-8199-4C2C-A5B1-63AEE139F88E}"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esim Yazılı Alıntı">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tr-TR"/>
              <a:t>Asıl başlık stilini düzenlemek için tıklayın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AD9FF7F-6988-44CC-821B-644E70CD2F73}"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sim Kartı">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5C12C299-16B2-4475-990D-751901EACC14}"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6/13/2026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6/13/2026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6/13/2026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6/13/2026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hyperlink" Target="https://www.youtube.com/watch?v=kUar8gU-6Io&amp;list=PL1TEcULbcSLH6uCQSRs5Zf62yEf2-5xXz" TargetMode="External"/><Relationship Id="rId3" Type="http://schemas.openxmlformats.org/officeDocument/2006/relationships/hyperlink" Target="https://www.btkakademi.gov.tr/portal/course/player/deliver/html5-ile-web-gelistirme-13200" TargetMode="External"/><Relationship Id="rId7" Type="http://schemas.openxmlformats.org/officeDocument/2006/relationships/hyperlink" Target="https://www.w3schools.com/sql/sql_create_db.asp" TargetMode="External"/><Relationship Id="rId2" Type="http://schemas.openxmlformats.org/officeDocument/2006/relationships/hyperlink" Target="https://www.udemy.com/course/sifirdan-ileri-duzey-web-programlama-html-css-javascript/learn/lecture/44536375#overview" TargetMode="External"/><Relationship Id="rId1" Type="http://schemas.openxmlformats.org/officeDocument/2006/relationships/slideLayout" Target="../slideLayouts/slideLayout7.xml"/><Relationship Id="rId6" Type="http://schemas.openxmlformats.org/officeDocument/2006/relationships/hyperlink" Target="https://www.w3schools.com/js/js_project_counter.asp" TargetMode="External"/><Relationship Id="rId11" Type="http://schemas.openxmlformats.org/officeDocument/2006/relationships/hyperlink" Target="https://chatgpt.com/" TargetMode="External"/><Relationship Id="rId5" Type="http://schemas.openxmlformats.org/officeDocument/2006/relationships/hyperlink" Target="https://www.w3schools.com/css/css_boxmodel.asp" TargetMode="External"/><Relationship Id="rId10" Type="http://schemas.openxmlformats.org/officeDocument/2006/relationships/hyperlink" Target="https://nodejs.org/en" TargetMode="External"/><Relationship Id="rId4" Type="http://schemas.openxmlformats.org/officeDocument/2006/relationships/hyperlink" Target="https://www.w3schools.com/html/html_colors.asp" TargetMode="External"/><Relationship Id="rId9" Type="http://schemas.openxmlformats.org/officeDocument/2006/relationships/hyperlink" Target="https://www.youtube.com/watch?v=-ei7CLxoOVU"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7634B6-C2AD-E5C9-6327-6FBBD27AF382}"/>
              </a:ext>
            </a:extLst>
          </p:cNvPr>
          <p:cNvSpPr>
            <a:spLocks noGrp="1"/>
          </p:cNvSpPr>
          <p:nvPr>
            <p:ph type="ctrTitle"/>
          </p:nvPr>
        </p:nvSpPr>
        <p:spPr>
          <a:xfrm>
            <a:off x="1154955" y="1120877"/>
            <a:ext cx="8825658" cy="959743"/>
          </a:xfrm>
        </p:spPr>
        <p:txBody>
          <a:bodyPr/>
          <a:lstStyle/>
          <a:p>
            <a:r>
              <a:rPr lang="tr-TR" b="1" dirty="0" err="1"/>
              <a:t>ExamTrack</a:t>
            </a:r>
            <a:endParaRPr lang="tr-TR" b="1" dirty="0"/>
          </a:p>
        </p:txBody>
      </p:sp>
      <p:sp>
        <p:nvSpPr>
          <p:cNvPr id="3" name="Alt Başlık 2">
            <a:extLst>
              <a:ext uri="{FF2B5EF4-FFF2-40B4-BE49-F238E27FC236}">
                <a16:creationId xmlns:a16="http://schemas.microsoft.com/office/drawing/2014/main" id="{F89A625E-818F-DCF1-D939-AA59D6756FC8}"/>
              </a:ext>
            </a:extLst>
          </p:cNvPr>
          <p:cNvSpPr>
            <a:spLocks noGrp="1"/>
          </p:cNvSpPr>
          <p:nvPr>
            <p:ph type="subTitle" idx="1"/>
          </p:nvPr>
        </p:nvSpPr>
        <p:spPr>
          <a:xfrm>
            <a:off x="1154955" y="1976284"/>
            <a:ext cx="8825658" cy="796413"/>
          </a:xfrm>
        </p:spPr>
        <p:txBody>
          <a:bodyPr>
            <a:normAutofit/>
          </a:bodyPr>
          <a:lstStyle/>
          <a:p>
            <a:r>
              <a:rPr lang="tr-TR" sz="2800" dirty="0"/>
              <a:t>Sınav takip ve Verimlilik paneli</a:t>
            </a:r>
          </a:p>
          <a:p>
            <a:endParaRPr lang="tr-TR" sz="2800" dirty="0"/>
          </a:p>
        </p:txBody>
      </p:sp>
      <p:sp>
        <p:nvSpPr>
          <p:cNvPr id="5" name="Metin kutusu 4">
            <a:extLst>
              <a:ext uri="{FF2B5EF4-FFF2-40B4-BE49-F238E27FC236}">
                <a16:creationId xmlns:a16="http://schemas.microsoft.com/office/drawing/2014/main" id="{3D1FF79B-8783-F7C5-B436-12DF322DF5F3}"/>
              </a:ext>
            </a:extLst>
          </p:cNvPr>
          <p:cNvSpPr txBox="1"/>
          <p:nvPr/>
        </p:nvSpPr>
        <p:spPr>
          <a:xfrm>
            <a:off x="958310" y="4355069"/>
            <a:ext cx="6229071" cy="1938992"/>
          </a:xfrm>
          <a:prstGeom prst="rect">
            <a:avLst/>
          </a:prstGeom>
          <a:noFill/>
        </p:spPr>
        <p:txBody>
          <a:bodyPr wrap="square" rtlCol="0">
            <a:spAutoFit/>
          </a:bodyPr>
          <a:lstStyle/>
          <a:p>
            <a:r>
              <a:rPr lang="tr-TR" sz="2400" dirty="0">
                <a:solidFill>
                  <a:schemeClr val="bg1">
                    <a:lumMod val="95000"/>
                  </a:schemeClr>
                </a:solidFill>
              </a:rPr>
              <a:t>Hazırlayan;</a:t>
            </a:r>
          </a:p>
          <a:p>
            <a:r>
              <a:rPr lang="tr-TR" sz="2400" dirty="0">
                <a:solidFill>
                  <a:schemeClr val="bg1">
                    <a:lumMod val="95000"/>
                  </a:schemeClr>
                </a:solidFill>
              </a:rPr>
              <a:t>Ad-</a:t>
            </a:r>
            <a:r>
              <a:rPr lang="tr-TR" sz="2400" dirty="0" err="1">
                <a:solidFill>
                  <a:schemeClr val="bg1">
                    <a:lumMod val="95000"/>
                  </a:schemeClr>
                </a:solidFill>
              </a:rPr>
              <a:t>Soyad</a:t>
            </a:r>
            <a:r>
              <a:rPr lang="tr-TR" sz="2400" dirty="0">
                <a:solidFill>
                  <a:schemeClr val="bg1">
                    <a:lumMod val="95000"/>
                  </a:schemeClr>
                </a:solidFill>
              </a:rPr>
              <a:t>: Sıla Kınalı</a:t>
            </a:r>
          </a:p>
          <a:p>
            <a:r>
              <a:rPr lang="tr-TR" sz="2400" dirty="0">
                <a:solidFill>
                  <a:schemeClr val="bg1">
                    <a:lumMod val="95000"/>
                  </a:schemeClr>
                </a:solidFill>
              </a:rPr>
              <a:t>Öğrenci No: 262484036</a:t>
            </a:r>
          </a:p>
          <a:p>
            <a:r>
              <a:rPr lang="tr-TR" sz="2400" dirty="0">
                <a:solidFill>
                  <a:schemeClr val="bg1">
                    <a:lumMod val="95000"/>
                  </a:schemeClr>
                </a:solidFill>
              </a:rPr>
              <a:t>Bölüm: Bilgisayar Programcılığı</a:t>
            </a:r>
          </a:p>
          <a:p>
            <a:r>
              <a:rPr lang="tr-TR" sz="2400" dirty="0">
                <a:solidFill>
                  <a:schemeClr val="bg1">
                    <a:lumMod val="95000"/>
                  </a:schemeClr>
                </a:solidFill>
              </a:rPr>
              <a:t>Danışman Hoca: Koray ÇOŞKUN</a:t>
            </a:r>
          </a:p>
        </p:txBody>
      </p:sp>
    </p:spTree>
    <p:extLst>
      <p:ext uri="{BB962C8B-B14F-4D97-AF65-F5344CB8AC3E}">
        <p14:creationId xmlns:p14="http://schemas.microsoft.com/office/powerpoint/2010/main" val="1241855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2" name="Rectangle 41">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Oval 42">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4" name="Oval 43">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5" name="Oval 44">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6" name="Oval 45">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7" name="Oval 46">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8"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49"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50"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52" name="Rectangle 51">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4" name="Rectangle 53">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56"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sp>
        <p:nvSpPr>
          <p:cNvPr id="58" name="Freeform: Shape 57">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sp>
        <p:nvSpPr>
          <p:cNvPr id="60"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Başlık 1">
            <a:extLst>
              <a:ext uri="{FF2B5EF4-FFF2-40B4-BE49-F238E27FC236}">
                <a16:creationId xmlns:a16="http://schemas.microsoft.com/office/drawing/2014/main" id="{F4F395BA-72EB-2E31-A4BD-310E2C7A8112}"/>
              </a:ext>
            </a:extLst>
          </p:cNvPr>
          <p:cNvSpPr>
            <a:spLocks noGrp="1"/>
          </p:cNvSpPr>
          <p:nvPr>
            <p:ph type="title"/>
          </p:nvPr>
        </p:nvSpPr>
        <p:spPr>
          <a:xfrm>
            <a:off x="639098" y="629265"/>
            <a:ext cx="5132438" cy="1622322"/>
          </a:xfrm>
        </p:spPr>
        <p:txBody>
          <a:bodyPr vert="horz" lIns="91440" tIns="45720" rIns="91440" bIns="45720" rtlCol="0" anchor="ctr">
            <a:normAutofit/>
          </a:bodyPr>
          <a:lstStyle/>
          <a:p>
            <a:r>
              <a:rPr lang="en-US" b="1" i="0" kern="1200" dirty="0" err="1">
                <a:solidFill>
                  <a:srgbClr val="EBEBEB"/>
                </a:solidFill>
                <a:latin typeface="+mj-lt"/>
                <a:ea typeface="+mj-ea"/>
                <a:cs typeface="+mj-cs"/>
              </a:rPr>
              <a:t>Proje</a:t>
            </a:r>
            <a:r>
              <a:rPr lang="en-US" b="1" i="0" kern="1200" dirty="0">
                <a:solidFill>
                  <a:srgbClr val="EBEBEB"/>
                </a:solidFill>
                <a:latin typeface="+mj-lt"/>
                <a:ea typeface="+mj-ea"/>
                <a:cs typeface="+mj-cs"/>
              </a:rPr>
              <a:t> </a:t>
            </a:r>
            <a:r>
              <a:rPr lang="en-US" b="1" i="0" kern="1200" dirty="0" err="1">
                <a:solidFill>
                  <a:srgbClr val="EBEBEB"/>
                </a:solidFill>
                <a:latin typeface="+mj-lt"/>
                <a:ea typeface="+mj-ea"/>
                <a:cs typeface="+mj-cs"/>
              </a:rPr>
              <a:t>Tanımı</a:t>
            </a:r>
            <a:r>
              <a:rPr lang="en-US" b="1" i="0" kern="1200" dirty="0">
                <a:solidFill>
                  <a:srgbClr val="EBEBEB"/>
                </a:solidFill>
                <a:latin typeface="+mj-lt"/>
                <a:ea typeface="+mj-ea"/>
                <a:cs typeface="+mj-cs"/>
              </a:rPr>
              <a:t>;</a:t>
            </a:r>
          </a:p>
        </p:txBody>
      </p:sp>
      <p:sp>
        <p:nvSpPr>
          <p:cNvPr id="62" name="Rectangle 61">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Metin Yer Tutucusu 3">
            <a:extLst>
              <a:ext uri="{FF2B5EF4-FFF2-40B4-BE49-F238E27FC236}">
                <a16:creationId xmlns:a16="http://schemas.microsoft.com/office/drawing/2014/main" id="{D3A5C298-56DD-3D78-8321-6CA2223C0203}"/>
              </a:ext>
            </a:extLst>
          </p:cNvPr>
          <p:cNvSpPr>
            <a:spLocks noGrp="1"/>
          </p:cNvSpPr>
          <p:nvPr>
            <p:ph type="body" sz="half" idx="2"/>
          </p:nvPr>
        </p:nvSpPr>
        <p:spPr>
          <a:xfrm>
            <a:off x="639098" y="2251587"/>
            <a:ext cx="5132439" cy="3978890"/>
          </a:xfrm>
        </p:spPr>
        <p:txBody>
          <a:bodyPr vert="horz" lIns="91440" tIns="45720" rIns="91440" bIns="45720" rtlCol="0" anchor="ctr">
            <a:normAutofit/>
          </a:bodyPr>
          <a:lstStyle/>
          <a:p>
            <a:pPr>
              <a:buFont typeface="Wingdings 3" charset="2"/>
              <a:buChar char=""/>
            </a:pPr>
            <a:r>
              <a:rPr lang="en-US" sz="2000" dirty="0" err="1">
                <a:solidFill>
                  <a:srgbClr val="FFFFFF"/>
                </a:solidFill>
              </a:rPr>
              <a:t>Projemin</a:t>
            </a:r>
            <a:r>
              <a:rPr lang="en-US" sz="2000" dirty="0">
                <a:solidFill>
                  <a:srgbClr val="FFFFFF"/>
                </a:solidFill>
              </a:rPr>
              <a:t> </a:t>
            </a:r>
            <a:r>
              <a:rPr lang="en-US" sz="2000" dirty="0" err="1">
                <a:solidFill>
                  <a:srgbClr val="FFFFFF"/>
                </a:solidFill>
              </a:rPr>
              <a:t>Amacı</a:t>
            </a:r>
            <a:r>
              <a:rPr lang="en-US" sz="2000" dirty="0">
                <a:solidFill>
                  <a:srgbClr val="FFFFFF"/>
                </a:solidFill>
              </a:rPr>
              <a:t>; </a:t>
            </a:r>
            <a:r>
              <a:rPr lang="en-US" sz="2000" dirty="0" err="1">
                <a:solidFill>
                  <a:srgbClr val="FFFFFF"/>
                </a:solidFill>
              </a:rPr>
              <a:t>Yoğun</a:t>
            </a:r>
            <a:r>
              <a:rPr lang="en-US" sz="2000" dirty="0">
                <a:solidFill>
                  <a:srgbClr val="FFFFFF"/>
                </a:solidFill>
              </a:rPr>
              <a:t> </a:t>
            </a:r>
            <a:r>
              <a:rPr lang="en-US" sz="2000" dirty="0" err="1">
                <a:solidFill>
                  <a:srgbClr val="FFFFFF"/>
                </a:solidFill>
              </a:rPr>
              <a:t>sınav</a:t>
            </a:r>
            <a:r>
              <a:rPr lang="en-US" sz="2000" dirty="0">
                <a:solidFill>
                  <a:srgbClr val="FFFFFF"/>
                </a:solidFill>
              </a:rPr>
              <a:t> </a:t>
            </a:r>
            <a:r>
              <a:rPr lang="en-US" sz="2000" dirty="0" err="1">
                <a:solidFill>
                  <a:srgbClr val="FFFFFF"/>
                </a:solidFill>
              </a:rPr>
              <a:t>dönemindeki</a:t>
            </a:r>
            <a:r>
              <a:rPr lang="en-US" sz="2000" dirty="0">
                <a:solidFill>
                  <a:srgbClr val="FFFFFF"/>
                </a:solidFill>
              </a:rPr>
              <a:t> </a:t>
            </a:r>
            <a:r>
              <a:rPr lang="en-US" sz="2000" dirty="0" err="1">
                <a:solidFill>
                  <a:srgbClr val="FFFFFF"/>
                </a:solidFill>
              </a:rPr>
              <a:t>öğrenci</a:t>
            </a:r>
            <a:r>
              <a:rPr lang="en-US" sz="2000" dirty="0">
                <a:solidFill>
                  <a:srgbClr val="FFFFFF"/>
                </a:solidFill>
              </a:rPr>
              <a:t> </a:t>
            </a:r>
            <a:r>
              <a:rPr lang="en-US" sz="2000" dirty="0" err="1">
                <a:solidFill>
                  <a:srgbClr val="FFFFFF"/>
                </a:solidFill>
              </a:rPr>
              <a:t>arkadaşlarımın</a:t>
            </a:r>
            <a:r>
              <a:rPr lang="en-US" sz="2000" dirty="0">
                <a:solidFill>
                  <a:srgbClr val="FFFFFF"/>
                </a:solidFill>
              </a:rPr>
              <a:t> </a:t>
            </a:r>
            <a:r>
              <a:rPr lang="en-US" sz="2000" dirty="0" err="1">
                <a:solidFill>
                  <a:srgbClr val="FFFFFF"/>
                </a:solidFill>
              </a:rPr>
              <a:t>çalışma</a:t>
            </a:r>
            <a:r>
              <a:rPr lang="en-US" sz="2000" dirty="0">
                <a:solidFill>
                  <a:srgbClr val="FFFFFF"/>
                </a:solidFill>
              </a:rPr>
              <a:t> </a:t>
            </a:r>
            <a:r>
              <a:rPr lang="en-US" sz="2000" dirty="0" err="1">
                <a:solidFill>
                  <a:srgbClr val="FFFFFF"/>
                </a:solidFill>
              </a:rPr>
              <a:t>verimini</a:t>
            </a:r>
            <a:r>
              <a:rPr lang="en-US" sz="2000" dirty="0">
                <a:solidFill>
                  <a:srgbClr val="FFFFFF"/>
                </a:solidFill>
              </a:rPr>
              <a:t> </a:t>
            </a:r>
            <a:r>
              <a:rPr lang="en-US" sz="2000" dirty="0" err="1">
                <a:solidFill>
                  <a:srgbClr val="FFFFFF"/>
                </a:solidFill>
              </a:rPr>
              <a:t>artırmak</a:t>
            </a:r>
            <a:r>
              <a:rPr lang="en-US" sz="2000" dirty="0">
                <a:solidFill>
                  <a:srgbClr val="FFFFFF"/>
                </a:solidFill>
              </a:rPr>
              <a:t> </a:t>
            </a:r>
            <a:r>
              <a:rPr lang="en-US" sz="2000" dirty="0" err="1">
                <a:solidFill>
                  <a:srgbClr val="FFFFFF"/>
                </a:solidFill>
              </a:rPr>
              <a:t>ve</a:t>
            </a:r>
            <a:r>
              <a:rPr lang="en-US" sz="2000" dirty="0">
                <a:solidFill>
                  <a:srgbClr val="FFFFFF"/>
                </a:solidFill>
              </a:rPr>
              <a:t> </a:t>
            </a:r>
            <a:r>
              <a:rPr lang="en-US" sz="2000" dirty="0" err="1">
                <a:solidFill>
                  <a:srgbClr val="FFFFFF"/>
                </a:solidFill>
              </a:rPr>
              <a:t>süreçlerini</a:t>
            </a:r>
            <a:r>
              <a:rPr lang="en-US" sz="2000" dirty="0">
                <a:solidFill>
                  <a:srgbClr val="FFFFFF"/>
                </a:solidFill>
              </a:rPr>
              <a:t> </a:t>
            </a:r>
            <a:r>
              <a:rPr lang="en-US" sz="2000" dirty="0" err="1">
                <a:solidFill>
                  <a:srgbClr val="FFFFFF"/>
                </a:solidFill>
              </a:rPr>
              <a:t>kolaylaştırmak</a:t>
            </a:r>
            <a:r>
              <a:rPr lang="en-US" sz="2000" dirty="0">
                <a:solidFill>
                  <a:srgbClr val="FFFFFF"/>
                </a:solidFill>
              </a:rPr>
              <a:t> </a:t>
            </a:r>
            <a:r>
              <a:rPr lang="en-US" sz="2000" dirty="0" err="1">
                <a:solidFill>
                  <a:srgbClr val="FFFFFF"/>
                </a:solidFill>
              </a:rPr>
              <a:t>adına</a:t>
            </a:r>
            <a:r>
              <a:rPr lang="en-US" sz="2000" dirty="0">
                <a:solidFill>
                  <a:srgbClr val="FFFFFF"/>
                </a:solidFill>
              </a:rPr>
              <a:t>, </a:t>
            </a:r>
            <a:r>
              <a:rPr lang="en-US" sz="2000" dirty="0" err="1">
                <a:solidFill>
                  <a:srgbClr val="FFFFFF"/>
                </a:solidFill>
              </a:rPr>
              <a:t>deneme</a:t>
            </a:r>
            <a:r>
              <a:rPr lang="en-US" sz="2000" dirty="0">
                <a:solidFill>
                  <a:srgbClr val="FFFFFF"/>
                </a:solidFill>
              </a:rPr>
              <a:t> net </a:t>
            </a:r>
            <a:r>
              <a:rPr lang="en-US" sz="2000" dirty="0" err="1">
                <a:solidFill>
                  <a:srgbClr val="FFFFFF"/>
                </a:solidFill>
              </a:rPr>
              <a:t>analizi</a:t>
            </a:r>
            <a:r>
              <a:rPr lang="en-US" sz="2000" dirty="0">
                <a:solidFill>
                  <a:srgbClr val="FFFFFF"/>
                </a:solidFill>
              </a:rPr>
              <a:t>, </a:t>
            </a:r>
            <a:r>
              <a:rPr lang="en-US" sz="2000" dirty="0" err="1">
                <a:solidFill>
                  <a:srgbClr val="FFFFFF"/>
                </a:solidFill>
              </a:rPr>
              <a:t>konu</a:t>
            </a:r>
            <a:r>
              <a:rPr lang="en-US" sz="2000" dirty="0">
                <a:solidFill>
                  <a:srgbClr val="FFFFFF"/>
                </a:solidFill>
              </a:rPr>
              <a:t> </a:t>
            </a:r>
            <a:r>
              <a:rPr lang="en-US" sz="2000" dirty="0" err="1">
                <a:solidFill>
                  <a:srgbClr val="FFFFFF"/>
                </a:solidFill>
              </a:rPr>
              <a:t>eksikliği</a:t>
            </a:r>
            <a:r>
              <a:rPr lang="en-US" sz="2000" dirty="0">
                <a:solidFill>
                  <a:srgbClr val="FFFFFF"/>
                </a:solidFill>
              </a:rPr>
              <a:t> </a:t>
            </a:r>
            <a:r>
              <a:rPr lang="en-US" sz="2000" dirty="0" err="1">
                <a:solidFill>
                  <a:srgbClr val="FFFFFF"/>
                </a:solidFill>
              </a:rPr>
              <a:t>hatırlatıcı</a:t>
            </a:r>
            <a:r>
              <a:rPr lang="en-US" sz="2000" dirty="0">
                <a:solidFill>
                  <a:srgbClr val="FFFFFF"/>
                </a:solidFill>
              </a:rPr>
              <a:t>, Pomodoro </a:t>
            </a:r>
            <a:r>
              <a:rPr lang="en-US" sz="2000" dirty="0" err="1">
                <a:solidFill>
                  <a:srgbClr val="FFFFFF"/>
                </a:solidFill>
              </a:rPr>
              <a:t>sayacı</a:t>
            </a:r>
            <a:r>
              <a:rPr lang="en-US" sz="2000" dirty="0">
                <a:solidFill>
                  <a:srgbClr val="FFFFFF"/>
                </a:solidFill>
              </a:rPr>
              <a:t>, </a:t>
            </a:r>
            <a:r>
              <a:rPr lang="en-US" sz="2000" dirty="0" err="1">
                <a:solidFill>
                  <a:srgbClr val="FFFFFF"/>
                </a:solidFill>
              </a:rPr>
              <a:t>günlük</a:t>
            </a:r>
            <a:r>
              <a:rPr lang="en-US" sz="2000" dirty="0">
                <a:solidFill>
                  <a:srgbClr val="FFFFFF"/>
                </a:solidFill>
              </a:rPr>
              <a:t> </a:t>
            </a:r>
            <a:r>
              <a:rPr lang="en-US" sz="2000" dirty="0" err="1">
                <a:solidFill>
                  <a:srgbClr val="FFFFFF"/>
                </a:solidFill>
              </a:rPr>
              <a:t>soru</a:t>
            </a:r>
            <a:r>
              <a:rPr lang="en-US" sz="2000" dirty="0">
                <a:solidFill>
                  <a:srgbClr val="FFFFFF"/>
                </a:solidFill>
              </a:rPr>
              <a:t> </a:t>
            </a:r>
            <a:r>
              <a:rPr lang="en-US" sz="2000" dirty="0" err="1">
                <a:solidFill>
                  <a:srgbClr val="FFFFFF"/>
                </a:solidFill>
              </a:rPr>
              <a:t>hedefi</a:t>
            </a:r>
            <a:r>
              <a:rPr lang="en-US" sz="2000" dirty="0">
                <a:solidFill>
                  <a:srgbClr val="FFFFFF"/>
                </a:solidFill>
              </a:rPr>
              <a:t> </a:t>
            </a:r>
            <a:r>
              <a:rPr lang="en-US" sz="2000" dirty="0" err="1">
                <a:solidFill>
                  <a:srgbClr val="FFFFFF"/>
                </a:solidFill>
              </a:rPr>
              <a:t>takibi</a:t>
            </a:r>
            <a:r>
              <a:rPr lang="en-US" sz="2000" dirty="0">
                <a:solidFill>
                  <a:srgbClr val="FFFFFF"/>
                </a:solidFill>
              </a:rPr>
              <a:t> </a:t>
            </a:r>
            <a:r>
              <a:rPr lang="en-US" sz="2000" dirty="0" err="1">
                <a:solidFill>
                  <a:srgbClr val="FFFFFF"/>
                </a:solidFill>
              </a:rPr>
              <a:t>gibi</a:t>
            </a:r>
            <a:r>
              <a:rPr lang="en-US" sz="2000" dirty="0">
                <a:solidFill>
                  <a:srgbClr val="FFFFFF"/>
                </a:solidFill>
              </a:rPr>
              <a:t> </a:t>
            </a:r>
            <a:r>
              <a:rPr lang="en-US" sz="2000" dirty="0" err="1">
                <a:solidFill>
                  <a:srgbClr val="FFFFFF"/>
                </a:solidFill>
              </a:rPr>
              <a:t>özellikleri</a:t>
            </a:r>
            <a:r>
              <a:rPr lang="en-US" sz="2000" dirty="0">
                <a:solidFill>
                  <a:srgbClr val="FFFFFF"/>
                </a:solidFill>
              </a:rPr>
              <a:t> </a:t>
            </a:r>
            <a:r>
              <a:rPr lang="en-US" sz="2000" dirty="0" err="1">
                <a:solidFill>
                  <a:srgbClr val="FFFFFF"/>
                </a:solidFill>
              </a:rPr>
              <a:t>bizim</a:t>
            </a:r>
            <a:r>
              <a:rPr lang="en-US" sz="2000" dirty="0">
                <a:solidFill>
                  <a:srgbClr val="FFFFFF"/>
                </a:solidFill>
              </a:rPr>
              <a:t> </a:t>
            </a:r>
            <a:r>
              <a:rPr lang="en-US" sz="2000" dirty="0" err="1">
                <a:solidFill>
                  <a:srgbClr val="FFFFFF"/>
                </a:solidFill>
              </a:rPr>
              <a:t>yerimize</a:t>
            </a:r>
            <a:r>
              <a:rPr lang="en-US" sz="2000" dirty="0">
                <a:solidFill>
                  <a:srgbClr val="FFFFFF"/>
                </a:solidFill>
              </a:rPr>
              <a:t> </a:t>
            </a:r>
            <a:r>
              <a:rPr lang="en-US" sz="2000" dirty="0" err="1">
                <a:solidFill>
                  <a:srgbClr val="FFFFFF"/>
                </a:solidFill>
              </a:rPr>
              <a:t>planlayan</a:t>
            </a:r>
            <a:r>
              <a:rPr lang="en-US" sz="2000" dirty="0">
                <a:solidFill>
                  <a:srgbClr val="FFFFFF"/>
                </a:solidFill>
              </a:rPr>
              <a:t> </a:t>
            </a:r>
            <a:r>
              <a:rPr lang="en-US" sz="2000" dirty="0" err="1">
                <a:solidFill>
                  <a:srgbClr val="FFFFFF"/>
                </a:solidFill>
              </a:rPr>
              <a:t>ve</a:t>
            </a:r>
            <a:r>
              <a:rPr lang="en-US" sz="2000" dirty="0">
                <a:solidFill>
                  <a:srgbClr val="FFFFFF"/>
                </a:solidFill>
              </a:rPr>
              <a:t> </a:t>
            </a:r>
            <a:r>
              <a:rPr lang="en-US" sz="2000" dirty="0" err="1">
                <a:solidFill>
                  <a:srgbClr val="FFFFFF"/>
                </a:solidFill>
              </a:rPr>
              <a:t>bunları</a:t>
            </a:r>
            <a:r>
              <a:rPr lang="en-US" sz="2000" dirty="0">
                <a:solidFill>
                  <a:srgbClr val="FFFFFF"/>
                </a:solidFill>
              </a:rPr>
              <a:t> </a:t>
            </a:r>
            <a:r>
              <a:rPr lang="en-US" sz="2000" dirty="0" err="1">
                <a:solidFill>
                  <a:srgbClr val="FFFFFF"/>
                </a:solidFill>
              </a:rPr>
              <a:t>haftalık</a:t>
            </a:r>
            <a:r>
              <a:rPr lang="en-US" sz="2000" dirty="0">
                <a:solidFill>
                  <a:srgbClr val="FFFFFF"/>
                </a:solidFill>
              </a:rPr>
              <a:t> </a:t>
            </a:r>
            <a:r>
              <a:rPr lang="en-US" sz="2000" dirty="0" err="1">
                <a:solidFill>
                  <a:srgbClr val="FFFFFF"/>
                </a:solidFill>
              </a:rPr>
              <a:t>grafikler</a:t>
            </a:r>
            <a:r>
              <a:rPr lang="en-US" sz="2000" dirty="0">
                <a:solidFill>
                  <a:srgbClr val="FFFFFF"/>
                </a:solidFill>
              </a:rPr>
              <a:t> </a:t>
            </a:r>
            <a:r>
              <a:rPr lang="en-US" sz="2000" dirty="0" err="1">
                <a:solidFill>
                  <a:srgbClr val="FFFFFF"/>
                </a:solidFill>
              </a:rPr>
              <a:t>ve</a:t>
            </a:r>
            <a:r>
              <a:rPr lang="en-US" sz="2000" dirty="0">
                <a:solidFill>
                  <a:srgbClr val="FFFFFF"/>
                </a:solidFill>
              </a:rPr>
              <a:t> </a:t>
            </a:r>
            <a:r>
              <a:rPr lang="en-US" sz="2000" dirty="0" err="1">
                <a:solidFill>
                  <a:srgbClr val="FFFFFF"/>
                </a:solidFill>
              </a:rPr>
              <a:t>ders</a:t>
            </a:r>
            <a:r>
              <a:rPr lang="en-US" sz="2000" dirty="0">
                <a:solidFill>
                  <a:srgbClr val="FFFFFF"/>
                </a:solidFill>
              </a:rPr>
              <a:t> </a:t>
            </a:r>
            <a:r>
              <a:rPr lang="en-US" sz="2000" dirty="0" err="1">
                <a:solidFill>
                  <a:srgbClr val="FFFFFF"/>
                </a:solidFill>
              </a:rPr>
              <a:t>programıyla</a:t>
            </a:r>
            <a:r>
              <a:rPr lang="en-US" sz="2000" dirty="0">
                <a:solidFill>
                  <a:srgbClr val="FFFFFF"/>
                </a:solidFill>
              </a:rPr>
              <a:t> bize </a:t>
            </a:r>
            <a:r>
              <a:rPr lang="en-US" sz="2000" dirty="0" err="1">
                <a:solidFill>
                  <a:srgbClr val="FFFFFF"/>
                </a:solidFill>
              </a:rPr>
              <a:t>sunan</a:t>
            </a:r>
            <a:r>
              <a:rPr lang="en-US" sz="2000" dirty="0">
                <a:solidFill>
                  <a:srgbClr val="FFFFFF"/>
                </a:solidFill>
              </a:rPr>
              <a:t> </a:t>
            </a:r>
            <a:r>
              <a:rPr lang="en-US" sz="2000" dirty="0" err="1">
                <a:solidFill>
                  <a:srgbClr val="FFFFFF"/>
                </a:solidFill>
              </a:rPr>
              <a:t>bir</a:t>
            </a:r>
            <a:r>
              <a:rPr lang="en-US" sz="2000" dirty="0">
                <a:solidFill>
                  <a:srgbClr val="FFFFFF"/>
                </a:solidFill>
              </a:rPr>
              <a:t> </a:t>
            </a:r>
            <a:r>
              <a:rPr lang="en-US" sz="2000" dirty="0" err="1">
                <a:solidFill>
                  <a:srgbClr val="FFFFFF"/>
                </a:solidFill>
              </a:rPr>
              <a:t>dijital</a:t>
            </a:r>
            <a:r>
              <a:rPr lang="en-US" sz="2000" dirty="0">
                <a:solidFill>
                  <a:srgbClr val="FFFFFF"/>
                </a:solidFill>
              </a:rPr>
              <a:t> platform </a:t>
            </a:r>
            <a:r>
              <a:rPr lang="en-US" sz="2000" dirty="0" err="1">
                <a:solidFill>
                  <a:srgbClr val="FFFFFF"/>
                </a:solidFill>
              </a:rPr>
              <a:t>oluşturmak</a:t>
            </a:r>
            <a:r>
              <a:rPr lang="en-US" sz="2000" dirty="0">
                <a:solidFill>
                  <a:srgbClr val="FFFFFF"/>
                </a:solidFill>
              </a:rPr>
              <a:t>.</a:t>
            </a:r>
          </a:p>
          <a:p>
            <a:pPr>
              <a:buFont typeface="Wingdings 3" charset="2"/>
              <a:buChar char=""/>
            </a:pPr>
            <a:endParaRPr lang="en-US" sz="2000" dirty="0">
              <a:solidFill>
                <a:srgbClr val="FFFFFF"/>
              </a:solidFill>
            </a:endParaRPr>
          </a:p>
        </p:txBody>
      </p:sp>
      <p:pic>
        <p:nvPicPr>
          <p:cNvPr id="35" name="Resim 34">
            <a:extLst>
              <a:ext uri="{FF2B5EF4-FFF2-40B4-BE49-F238E27FC236}">
                <a16:creationId xmlns:a16="http://schemas.microsoft.com/office/drawing/2014/main" id="{2B6B3094-1260-2851-D286-3B009B54150D}"/>
              </a:ext>
            </a:extLst>
          </p:cNvPr>
          <p:cNvPicPr>
            <a:picLocks noChangeAspect="1"/>
          </p:cNvPicPr>
          <p:nvPr/>
        </p:nvPicPr>
        <p:blipFill>
          <a:blip r:embed="rId3"/>
          <a:stretch>
            <a:fillRect/>
          </a:stretch>
        </p:blipFill>
        <p:spPr>
          <a:xfrm>
            <a:off x="6493955" y="536387"/>
            <a:ext cx="2819400" cy="1660641"/>
          </a:xfrm>
          <a:prstGeom prst="rect">
            <a:avLst/>
          </a:prstGeom>
        </p:spPr>
      </p:pic>
      <p:pic>
        <p:nvPicPr>
          <p:cNvPr id="38" name="Resim 37">
            <a:extLst>
              <a:ext uri="{FF2B5EF4-FFF2-40B4-BE49-F238E27FC236}">
                <a16:creationId xmlns:a16="http://schemas.microsoft.com/office/drawing/2014/main" id="{056C03F6-1828-942C-7485-CE7A884077DE}"/>
              </a:ext>
            </a:extLst>
          </p:cNvPr>
          <p:cNvPicPr>
            <a:picLocks noChangeAspect="1"/>
          </p:cNvPicPr>
          <p:nvPr/>
        </p:nvPicPr>
        <p:blipFill>
          <a:blip r:embed="rId4"/>
          <a:stretch>
            <a:fillRect/>
          </a:stretch>
        </p:blipFill>
        <p:spPr>
          <a:xfrm>
            <a:off x="8477534" y="2323057"/>
            <a:ext cx="2868582" cy="1512547"/>
          </a:xfrm>
          <a:prstGeom prst="rect">
            <a:avLst/>
          </a:prstGeom>
        </p:spPr>
      </p:pic>
      <p:pic>
        <p:nvPicPr>
          <p:cNvPr id="40" name="Resim 39">
            <a:extLst>
              <a:ext uri="{FF2B5EF4-FFF2-40B4-BE49-F238E27FC236}">
                <a16:creationId xmlns:a16="http://schemas.microsoft.com/office/drawing/2014/main" id="{F565307C-6902-9F41-C41E-98866C79A6FD}"/>
              </a:ext>
            </a:extLst>
          </p:cNvPr>
          <p:cNvPicPr>
            <a:picLocks noChangeAspect="1"/>
          </p:cNvPicPr>
          <p:nvPr/>
        </p:nvPicPr>
        <p:blipFill>
          <a:blip r:embed="rId5"/>
          <a:stretch>
            <a:fillRect/>
          </a:stretch>
        </p:blipFill>
        <p:spPr>
          <a:xfrm>
            <a:off x="6516324" y="3914281"/>
            <a:ext cx="4115157" cy="2438611"/>
          </a:xfrm>
          <a:prstGeom prst="rect">
            <a:avLst/>
          </a:prstGeom>
        </p:spPr>
      </p:pic>
    </p:spTree>
    <p:extLst>
      <p:ext uri="{BB962C8B-B14F-4D97-AF65-F5344CB8AC3E}">
        <p14:creationId xmlns:p14="http://schemas.microsoft.com/office/powerpoint/2010/main" val="376421964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B32679F1-2C94-5C6A-2BA0-E187E6DB77B1}"/>
              </a:ext>
            </a:extLst>
          </p:cNvPr>
          <p:cNvSpPr txBox="1"/>
          <p:nvPr/>
        </p:nvSpPr>
        <p:spPr>
          <a:xfrm>
            <a:off x="152400" y="277609"/>
            <a:ext cx="3708400" cy="769441"/>
          </a:xfrm>
          <a:prstGeom prst="rect">
            <a:avLst/>
          </a:prstGeom>
          <a:noFill/>
        </p:spPr>
        <p:txBody>
          <a:bodyPr wrap="square" rtlCol="0">
            <a:spAutoFit/>
          </a:bodyPr>
          <a:lstStyle/>
          <a:p>
            <a:r>
              <a:rPr lang="tr-TR" sz="4400" b="1" dirty="0">
                <a:solidFill>
                  <a:schemeClr val="accent6">
                    <a:lumMod val="50000"/>
                  </a:schemeClr>
                </a:solidFill>
              </a:rPr>
              <a:t>Planlama</a:t>
            </a:r>
          </a:p>
        </p:txBody>
      </p:sp>
      <p:graphicFrame>
        <p:nvGraphicFramePr>
          <p:cNvPr id="3" name="Tablo 2">
            <a:extLst>
              <a:ext uri="{FF2B5EF4-FFF2-40B4-BE49-F238E27FC236}">
                <a16:creationId xmlns:a16="http://schemas.microsoft.com/office/drawing/2014/main" id="{62D5E7DC-7033-026E-89CF-A0E9CD6C3533}"/>
              </a:ext>
            </a:extLst>
          </p:cNvPr>
          <p:cNvGraphicFramePr>
            <a:graphicFrameLocks noGrp="1"/>
          </p:cNvGraphicFramePr>
          <p:nvPr>
            <p:extLst>
              <p:ext uri="{D42A27DB-BD31-4B8C-83A1-F6EECF244321}">
                <p14:modId xmlns:p14="http://schemas.microsoft.com/office/powerpoint/2010/main" val="2010182745"/>
              </p:ext>
            </p:extLst>
          </p:nvPr>
        </p:nvGraphicFramePr>
        <p:xfrm>
          <a:off x="2987040" y="662329"/>
          <a:ext cx="7172960" cy="5963822"/>
        </p:xfrm>
        <a:graphic>
          <a:graphicData uri="http://schemas.openxmlformats.org/drawingml/2006/table">
            <a:tbl>
              <a:tblPr firstRow="1" bandRow="1">
                <a:tableStyleId>{5C22544A-7EE6-4342-B048-85BDC9FD1C3A}</a:tableStyleId>
              </a:tblPr>
              <a:tblGrid>
                <a:gridCol w="1682422">
                  <a:extLst>
                    <a:ext uri="{9D8B030D-6E8A-4147-A177-3AD203B41FA5}">
                      <a16:colId xmlns:a16="http://schemas.microsoft.com/office/drawing/2014/main" val="976490981"/>
                    </a:ext>
                  </a:extLst>
                </a:gridCol>
                <a:gridCol w="5490538">
                  <a:extLst>
                    <a:ext uri="{9D8B030D-6E8A-4147-A177-3AD203B41FA5}">
                      <a16:colId xmlns:a16="http://schemas.microsoft.com/office/drawing/2014/main" val="4168492583"/>
                    </a:ext>
                  </a:extLst>
                </a:gridCol>
              </a:tblGrid>
              <a:tr h="939848">
                <a:tc>
                  <a:txBody>
                    <a:bodyPr/>
                    <a:lstStyle/>
                    <a:p>
                      <a:r>
                        <a:rPr lang="tr-TR" sz="2800" dirty="0"/>
                        <a:t>1. Hafta</a:t>
                      </a:r>
                    </a:p>
                  </a:txBody>
                  <a:tcPr/>
                </a:tc>
                <a:tc>
                  <a:txBody>
                    <a:bodyPr/>
                    <a:lstStyle/>
                    <a:p>
                      <a:r>
                        <a:rPr lang="tr-TR" sz="2000" dirty="0"/>
                        <a:t>Projeyi ve konusunu belirleme, zaman çizelgesi oluşturma</a:t>
                      </a:r>
                    </a:p>
                  </a:txBody>
                  <a:tcPr/>
                </a:tc>
                <a:extLst>
                  <a:ext uri="{0D108BD9-81ED-4DB2-BD59-A6C34878D82A}">
                    <a16:rowId xmlns:a16="http://schemas.microsoft.com/office/drawing/2014/main" val="1753253871"/>
                  </a:ext>
                </a:extLst>
              </a:tr>
              <a:tr h="982959">
                <a:tc>
                  <a:txBody>
                    <a:bodyPr/>
                    <a:lstStyle/>
                    <a:p>
                      <a:r>
                        <a:rPr lang="tr-TR" sz="2800" dirty="0">
                          <a:solidFill>
                            <a:schemeClr val="accent6">
                              <a:lumMod val="50000"/>
                            </a:schemeClr>
                          </a:solidFill>
                        </a:rPr>
                        <a:t>2-3</a:t>
                      </a:r>
                    </a:p>
                    <a:p>
                      <a:r>
                        <a:rPr lang="tr-TR" sz="2800" dirty="0">
                          <a:solidFill>
                            <a:schemeClr val="accent6">
                              <a:lumMod val="50000"/>
                            </a:schemeClr>
                          </a:solidFill>
                        </a:rPr>
                        <a:t>Hafta</a:t>
                      </a:r>
                    </a:p>
                  </a:txBody>
                  <a:tcPr/>
                </a:tc>
                <a:tc>
                  <a:txBody>
                    <a:bodyPr/>
                    <a:lstStyle/>
                    <a:p>
                      <a:r>
                        <a:rPr lang="tr-TR" sz="2000" dirty="0">
                          <a:solidFill>
                            <a:schemeClr val="accent6">
                              <a:lumMod val="50000"/>
                            </a:schemeClr>
                          </a:solidFill>
                        </a:rPr>
                        <a:t>Kullanılacak kaynak ve araçların, kodlama dillerinin belirlenmesi</a:t>
                      </a:r>
                    </a:p>
                  </a:txBody>
                  <a:tcPr/>
                </a:tc>
                <a:extLst>
                  <a:ext uri="{0D108BD9-81ED-4DB2-BD59-A6C34878D82A}">
                    <a16:rowId xmlns:a16="http://schemas.microsoft.com/office/drawing/2014/main" val="2387786381"/>
                  </a:ext>
                </a:extLst>
              </a:tr>
              <a:tr h="982959">
                <a:tc>
                  <a:txBody>
                    <a:bodyPr/>
                    <a:lstStyle/>
                    <a:p>
                      <a:r>
                        <a:rPr lang="tr-TR" sz="2800" dirty="0">
                          <a:solidFill>
                            <a:schemeClr val="accent6">
                              <a:lumMod val="50000"/>
                            </a:schemeClr>
                          </a:solidFill>
                        </a:rPr>
                        <a:t>3-4 </a:t>
                      </a:r>
                    </a:p>
                    <a:p>
                      <a:r>
                        <a:rPr lang="tr-TR" sz="2800" dirty="0">
                          <a:solidFill>
                            <a:schemeClr val="accent6">
                              <a:lumMod val="50000"/>
                            </a:schemeClr>
                          </a:solidFill>
                        </a:rPr>
                        <a:t>Hafta</a:t>
                      </a:r>
                    </a:p>
                  </a:txBody>
                  <a:tcPr/>
                </a:tc>
                <a:tc>
                  <a:txBody>
                    <a:bodyPr/>
                    <a:lstStyle/>
                    <a:p>
                      <a:r>
                        <a:rPr lang="tr-TR" sz="2000" dirty="0">
                          <a:solidFill>
                            <a:schemeClr val="accent6">
                              <a:lumMod val="50000"/>
                            </a:schemeClr>
                          </a:solidFill>
                        </a:rPr>
                        <a:t>Tasarımının planlanması, kağıt prototip oluşturma</a:t>
                      </a:r>
                    </a:p>
                  </a:txBody>
                  <a:tcPr/>
                </a:tc>
                <a:extLst>
                  <a:ext uri="{0D108BD9-81ED-4DB2-BD59-A6C34878D82A}">
                    <a16:rowId xmlns:a16="http://schemas.microsoft.com/office/drawing/2014/main" val="2157515743"/>
                  </a:ext>
                </a:extLst>
              </a:tr>
              <a:tr h="1046376">
                <a:tc>
                  <a:txBody>
                    <a:bodyPr/>
                    <a:lstStyle/>
                    <a:p>
                      <a:r>
                        <a:rPr lang="tr-TR" sz="2800" dirty="0">
                          <a:solidFill>
                            <a:schemeClr val="accent6">
                              <a:lumMod val="50000"/>
                            </a:schemeClr>
                          </a:solidFill>
                        </a:rPr>
                        <a:t>5.</a:t>
                      </a:r>
                    </a:p>
                    <a:p>
                      <a:r>
                        <a:rPr lang="tr-TR" sz="2800" dirty="0">
                          <a:solidFill>
                            <a:schemeClr val="accent6">
                              <a:lumMod val="50000"/>
                            </a:schemeClr>
                          </a:solidFill>
                        </a:rPr>
                        <a:t>Hafta</a:t>
                      </a:r>
                    </a:p>
                  </a:txBody>
                  <a:tcPr/>
                </a:tc>
                <a:tc>
                  <a:txBody>
                    <a:bodyPr/>
                    <a:lstStyle/>
                    <a:p>
                      <a:r>
                        <a:rPr lang="tr-TR" sz="2000" dirty="0" err="1">
                          <a:solidFill>
                            <a:schemeClr val="accent6">
                              <a:lumMod val="50000"/>
                            </a:schemeClr>
                          </a:solidFill>
                        </a:rPr>
                        <a:t>Veritabanının</a:t>
                      </a:r>
                      <a:r>
                        <a:rPr lang="tr-TR" sz="2000" dirty="0">
                          <a:solidFill>
                            <a:schemeClr val="accent6">
                              <a:lumMod val="50000"/>
                            </a:schemeClr>
                          </a:solidFill>
                        </a:rPr>
                        <a:t> oluşturulması, kullanıcı giriş-kayıt sisteminin ve verilerin arka planda saklanacağı temel yapının kodlanması.</a:t>
                      </a:r>
                    </a:p>
                  </a:txBody>
                  <a:tcPr/>
                </a:tc>
                <a:extLst>
                  <a:ext uri="{0D108BD9-81ED-4DB2-BD59-A6C34878D82A}">
                    <a16:rowId xmlns:a16="http://schemas.microsoft.com/office/drawing/2014/main" val="2356178335"/>
                  </a:ext>
                </a:extLst>
              </a:tr>
              <a:tr h="982959">
                <a:tc>
                  <a:txBody>
                    <a:bodyPr/>
                    <a:lstStyle/>
                    <a:p>
                      <a:r>
                        <a:rPr lang="tr-TR" sz="2800" dirty="0">
                          <a:solidFill>
                            <a:schemeClr val="accent6">
                              <a:lumMod val="50000"/>
                            </a:schemeClr>
                          </a:solidFill>
                        </a:rPr>
                        <a:t>6-7</a:t>
                      </a:r>
                    </a:p>
                    <a:p>
                      <a:r>
                        <a:rPr lang="tr-TR" sz="2800" dirty="0">
                          <a:solidFill>
                            <a:schemeClr val="accent6">
                              <a:lumMod val="50000"/>
                            </a:schemeClr>
                          </a:solidFill>
                        </a:rPr>
                        <a:t>Hafta</a:t>
                      </a:r>
                    </a:p>
                  </a:txBody>
                  <a:tcPr/>
                </a:tc>
                <a:tc>
                  <a:txBody>
                    <a:bodyPr/>
                    <a:lstStyle/>
                    <a:p>
                      <a:pPr marL="0" indent="0">
                        <a:buFont typeface="Arial" panose="020B0604020202020204" pitchFamily="34" charset="0"/>
                        <a:buNone/>
                      </a:pPr>
                      <a:r>
                        <a:rPr lang="tr-TR" sz="2000" dirty="0">
                          <a:solidFill>
                            <a:schemeClr val="accent6">
                              <a:lumMod val="50000"/>
                            </a:schemeClr>
                          </a:solidFill>
                        </a:rPr>
                        <a:t>Kullanıcının göreceği ana ekranın, ilerleme çubuklarının, grafiklerin ve </a:t>
                      </a:r>
                      <a:r>
                        <a:rPr lang="tr-TR" sz="2000" dirty="0" err="1">
                          <a:solidFill>
                            <a:schemeClr val="accent6">
                              <a:lumMod val="50000"/>
                            </a:schemeClr>
                          </a:solidFill>
                        </a:rPr>
                        <a:t>Pomodoro</a:t>
                      </a:r>
                      <a:r>
                        <a:rPr lang="tr-TR" sz="2000" dirty="0">
                          <a:solidFill>
                            <a:schemeClr val="accent6">
                              <a:lumMod val="50000"/>
                            </a:schemeClr>
                          </a:solidFill>
                        </a:rPr>
                        <a:t> sayacının tasarlanıp kodlanması.</a:t>
                      </a:r>
                    </a:p>
                  </a:txBody>
                  <a:tcPr/>
                </a:tc>
                <a:extLst>
                  <a:ext uri="{0D108BD9-81ED-4DB2-BD59-A6C34878D82A}">
                    <a16:rowId xmlns:a16="http://schemas.microsoft.com/office/drawing/2014/main" val="1736160510"/>
                  </a:ext>
                </a:extLst>
              </a:tr>
              <a:tr h="982959">
                <a:tc>
                  <a:txBody>
                    <a:bodyPr/>
                    <a:lstStyle/>
                    <a:p>
                      <a:r>
                        <a:rPr lang="tr-TR" sz="2800" dirty="0">
                          <a:solidFill>
                            <a:schemeClr val="accent6">
                              <a:lumMod val="50000"/>
                            </a:schemeClr>
                          </a:solidFill>
                        </a:rPr>
                        <a:t>8.</a:t>
                      </a:r>
                    </a:p>
                    <a:p>
                      <a:r>
                        <a:rPr lang="tr-TR" sz="2800" dirty="0">
                          <a:solidFill>
                            <a:schemeClr val="accent6">
                              <a:lumMod val="50000"/>
                            </a:schemeClr>
                          </a:solidFill>
                        </a:rPr>
                        <a:t>Hafta</a:t>
                      </a:r>
                    </a:p>
                  </a:txBody>
                  <a:tcPr/>
                </a:tc>
                <a:tc>
                  <a:txBody>
                    <a:bodyPr/>
                    <a:lstStyle/>
                    <a:p>
                      <a:r>
                        <a:rPr lang="tr-TR" sz="2000" dirty="0">
                          <a:solidFill>
                            <a:schemeClr val="accent6">
                              <a:lumMod val="50000"/>
                            </a:schemeClr>
                          </a:solidFill>
                        </a:rPr>
                        <a:t>Sitenin son kontrollerinin yapılması, hata ile eksiklerin düzeltilmesi ve projenin teslim edilmeye hazır hale getirilmesi.</a:t>
                      </a:r>
                    </a:p>
                  </a:txBody>
                  <a:tcPr/>
                </a:tc>
                <a:extLst>
                  <a:ext uri="{0D108BD9-81ED-4DB2-BD59-A6C34878D82A}">
                    <a16:rowId xmlns:a16="http://schemas.microsoft.com/office/drawing/2014/main" val="3551255249"/>
                  </a:ext>
                </a:extLst>
              </a:tr>
            </a:tbl>
          </a:graphicData>
        </a:graphic>
      </p:graphicFrame>
    </p:spTree>
    <p:extLst>
      <p:ext uri="{BB962C8B-B14F-4D97-AF65-F5344CB8AC3E}">
        <p14:creationId xmlns:p14="http://schemas.microsoft.com/office/powerpoint/2010/main" val="2440219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10">
            <a:extLst>
              <a:ext uri="{FF2B5EF4-FFF2-40B4-BE49-F238E27FC236}">
                <a16:creationId xmlns:a16="http://schemas.microsoft.com/office/drawing/2014/main" id="{FAEF28A3-012D-4640-B8B8-1EF6EAF723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F3B2F1C2-14D3-4A53-B329-323795BC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a:extLst>
                <a:ext uri="{FF2B5EF4-FFF2-40B4-BE49-F238E27FC236}">
                  <a16:creationId xmlns:a16="http://schemas.microsoft.com/office/drawing/2014/main" id="{194E879E-1515-4211-8F1B-B68A92B2C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F7137E7D-1F4E-498A-97D1-0E1FE6FC6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91375183-B6E5-43E0-B28F-39EC90838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267F36BD-A8AF-4304-A662-1007CC174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a:extLst>
                <a:ext uri="{FF2B5EF4-FFF2-40B4-BE49-F238E27FC236}">
                  <a16:creationId xmlns:a16="http://schemas.microsoft.com/office/drawing/2014/main" id="{15D9095F-2809-4A90-A032-250AC21C3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a:extLst>
                <a:ext uri="{FF2B5EF4-FFF2-40B4-BE49-F238E27FC236}">
                  <a16:creationId xmlns:a16="http://schemas.microsoft.com/office/drawing/2014/main" id="{9027D7BF-C282-4477-A406-245C3F265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a:extLst>
                <a:ext uri="{FF2B5EF4-FFF2-40B4-BE49-F238E27FC236}">
                  <a16:creationId xmlns:a16="http://schemas.microsoft.com/office/drawing/2014/main" id="{AC3C43D8-426E-472E-A8E8-C41BF7A876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0" name="Freeform 5">
              <a:extLst>
                <a:ext uri="{FF2B5EF4-FFF2-40B4-BE49-F238E27FC236}">
                  <a16:creationId xmlns:a16="http://schemas.microsoft.com/office/drawing/2014/main" id="{52DCAE0E-B8DE-4C42-A48F-FA0C8345A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1" name="Rectangle 21">
            <a:extLst>
              <a:ext uri="{FF2B5EF4-FFF2-40B4-BE49-F238E27FC236}">
                <a16:creationId xmlns:a16="http://schemas.microsoft.com/office/drawing/2014/main" id="{59647F54-801D-44AB-8284-EDDFF7763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Başlık 1">
            <a:extLst>
              <a:ext uri="{FF2B5EF4-FFF2-40B4-BE49-F238E27FC236}">
                <a16:creationId xmlns:a16="http://schemas.microsoft.com/office/drawing/2014/main" id="{FF59BC8C-C347-2E77-ADCC-BD06AD49202A}"/>
              </a:ext>
            </a:extLst>
          </p:cNvPr>
          <p:cNvSpPr>
            <a:spLocks noGrp="1"/>
          </p:cNvSpPr>
          <p:nvPr>
            <p:ph type="title"/>
          </p:nvPr>
        </p:nvSpPr>
        <p:spPr>
          <a:xfrm>
            <a:off x="1154954" y="973668"/>
            <a:ext cx="8761413" cy="706964"/>
          </a:xfrm>
        </p:spPr>
        <p:txBody>
          <a:bodyPr vert="horz" lIns="91440" tIns="45720" rIns="91440" bIns="45720" rtlCol="0" anchor="ctr">
            <a:normAutofit/>
          </a:bodyPr>
          <a:lstStyle/>
          <a:p>
            <a:r>
              <a:rPr lang="en-US" b="1" dirty="0" err="1"/>
              <a:t>Planlama</a:t>
            </a:r>
            <a:r>
              <a:rPr lang="en-US" b="1" dirty="0"/>
              <a:t> – </a:t>
            </a:r>
            <a:r>
              <a:rPr lang="en-US" b="1" dirty="0" err="1"/>
              <a:t>Süreç</a:t>
            </a:r>
            <a:r>
              <a:rPr lang="en-US" b="1" dirty="0"/>
              <a:t> </a:t>
            </a:r>
            <a:r>
              <a:rPr lang="en-US" b="1" dirty="0" err="1"/>
              <a:t>Modeli</a:t>
            </a:r>
            <a:endParaRPr lang="en-US" b="1" dirty="0"/>
          </a:p>
        </p:txBody>
      </p:sp>
      <p:sp>
        <p:nvSpPr>
          <p:cNvPr id="4" name="Metin Yer Tutucusu 3">
            <a:extLst>
              <a:ext uri="{FF2B5EF4-FFF2-40B4-BE49-F238E27FC236}">
                <a16:creationId xmlns:a16="http://schemas.microsoft.com/office/drawing/2014/main" id="{92C3ECA3-6CC7-9865-494D-4116A2E06F2A}"/>
              </a:ext>
            </a:extLst>
          </p:cNvPr>
          <p:cNvSpPr>
            <a:spLocks noGrp="1"/>
          </p:cNvSpPr>
          <p:nvPr>
            <p:ph type="body" sz="half" idx="2"/>
          </p:nvPr>
        </p:nvSpPr>
        <p:spPr>
          <a:xfrm>
            <a:off x="661036" y="2676249"/>
            <a:ext cx="6397313" cy="3416300"/>
          </a:xfrm>
        </p:spPr>
        <p:txBody>
          <a:bodyPr vert="horz" lIns="91440" tIns="45720" rIns="91440" bIns="45720" rtlCol="0" anchor="ctr">
            <a:normAutofit/>
          </a:bodyPr>
          <a:lstStyle/>
          <a:p>
            <a:pPr>
              <a:buFont typeface="Wingdings 3" charset="2"/>
              <a:buChar char=""/>
            </a:pPr>
            <a:r>
              <a:rPr lang="en-US" sz="2000" dirty="0">
                <a:solidFill>
                  <a:schemeClr val="tx1">
                    <a:lumMod val="75000"/>
                    <a:lumOff val="25000"/>
                  </a:schemeClr>
                </a:solidFill>
              </a:rPr>
              <a:t>Ben </a:t>
            </a:r>
            <a:r>
              <a:rPr lang="en-US" sz="2000" dirty="0" err="1">
                <a:solidFill>
                  <a:schemeClr val="tx1">
                    <a:lumMod val="75000"/>
                    <a:lumOff val="25000"/>
                  </a:schemeClr>
                </a:solidFill>
              </a:rPr>
              <a:t>projemi</a:t>
            </a:r>
            <a:r>
              <a:rPr lang="en-US" sz="2000" dirty="0">
                <a:solidFill>
                  <a:schemeClr val="tx1">
                    <a:lumMod val="75000"/>
                    <a:lumOff val="25000"/>
                  </a:schemeClr>
                </a:solidFill>
              </a:rPr>
              <a:t> </a:t>
            </a:r>
            <a:r>
              <a:rPr lang="en-US" sz="2000" dirty="0" err="1">
                <a:solidFill>
                  <a:schemeClr val="tx1">
                    <a:lumMod val="75000"/>
                    <a:lumOff val="25000"/>
                  </a:schemeClr>
                </a:solidFill>
              </a:rPr>
              <a:t>oluştururken</a:t>
            </a:r>
            <a:r>
              <a:rPr lang="en-US" sz="2000" dirty="0">
                <a:solidFill>
                  <a:schemeClr val="tx1">
                    <a:lumMod val="75000"/>
                    <a:lumOff val="25000"/>
                  </a:schemeClr>
                </a:solidFill>
              </a:rPr>
              <a:t> Waterfall (</a:t>
            </a:r>
            <a:r>
              <a:rPr lang="en-US" sz="2000" dirty="0" err="1">
                <a:solidFill>
                  <a:schemeClr val="tx1">
                    <a:lumMod val="75000"/>
                    <a:lumOff val="25000"/>
                  </a:schemeClr>
                </a:solidFill>
              </a:rPr>
              <a:t>Şelale</a:t>
            </a:r>
            <a:r>
              <a:rPr lang="en-US" sz="2000" dirty="0">
                <a:solidFill>
                  <a:schemeClr val="tx1">
                    <a:lumMod val="75000"/>
                    <a:lumOff val="25000"/>
                  </a:schemeClr>
                </a:solidFill>
              </a:rPr>
              <a:t>) </a:t>
            </a:r>
            <a:r>
              <a:rPr lang="en-US" sz="2000" dirty="0" err="1">
                <a:solidFill>
                  <a:schemeClr val="tx1">
                    <a:lumMod val="75000"/>
                    <a:lumOff val="25000"/>
                  </a:schemeClr>
                </a:solidFill>
              </a:rPr>
              <a:t>modelini</a:t>
            </a:r>
            <a:r>
              <a:rPr lang="en-US" sz="2000" dirty="0">
                <a:solidFill>
                  <a:schemeClr val="tx1">
                    <a:lumMod val="75000"/>
                    <a:lumOff val="25000"/>
                  </a:schemeClr>
                </a:solidFill>
              </a:rPr>
              <a:t> </a:t>
            </a:r>
            <a:r>
              <a:rPr lang="en-US" sz="2000" dirty="0" err="1">
                <a:solidFill>
                  <a:schemeClr val="tx1">
                    <a:lumMod val="75000"/>
                    <a:lumOff val="25000"/>
                  </a:schemeClr>
                </a:solidFill>
              </a:rPr>
              <a:t>kullanmayı</a:t>
            </a:r>
            <a:r>
              <a:rPr lang="en-US" sz="2000" dirty="0">
                <a:solidFill>
                  <a:schemeClr val="tx1">
                    <a:lumMod val="75000"/>
                    <a:lumOff val="25000"/>
                  </a:schemeClr>
                </a:solidFill>
              </a:rPr>
              <a:t> </a:t>
            </a:r>
            <a:r>
              <a:rPr lang="en-US" sz="2000" dirty="0" err="1">
                <a:solidFill>
                  <a:schemeClr val="tx1">
                    <a:lumMod val="75000"/>
                    <a:lumOff val="25000"/>
                  </a:schemeClr>
                </a:solidFill>
              </a:rPr>
              <a:t>tercih</a:t>
            </a:r>
            <a:r>
              <a:rPr lang="en-US" sz="2000" dirty="0">
                <a:solidFill>
                  <a:schemeClr val="tx1">
                    <a:lumMod val="75000"/>
                    <a:lumOff val="25000"/>
                  </a:schemeClr>
                </a:solidFill>
              </a:rPr>
              <a:t> </a:t>
            </a:r>
            <a:r>
              <a:rPr lang="en-US" sz="2000" dirty="0" err="1">
                <a:solidFill>
                  <a:schemeClr val="tx1">
                    <a:lumMod val="75000"/>
                    <a:lumOff val="25000"/>
                  </a:schemeClr>
                </a:solidFill>
              </a:rPr>
              <a:t>ettim</a:t>
            </a:r>
            <a:r>
              <a:rPr lang="en-US" sz="2000" dirty="0">
                <a:solidFill>
                  <a:schemeClr val="tx1">
                    <a:lumMod val="75000"/>
                    <a:lumOff val="25000"/>
                  </a:schemeClr>
                </a:solidFill>
              </a:rPr>
              <a:t> </a:t>
            </a:r>
            <a:r>
              <a:rPr lang="en-US" sz="2000" dirty="0" err="1">
                <a:solidFill>
                  <a:schemeClr val="tx1">
                    <a:lumMod val="75000"/>
                    <a:lumOff val="25000"/>
                  </a:schemeClr>
                </a:solidFill>
              </a:rPr>
              <a:t>çünkü</a:t>
            </a:r>
            <a:r>
              <a:rPr lang="en-US" sz="2000" dirty="0">
                <a:solidFill>
                  <a:schemeClr val="tx1">
                    <a:lumMod val="75000"/>
                    <a:lumOff val="25000"/>
                  </a:schemeClr>
                </a:solidFill>
              </a:rPr>
              <a:t>; </a:t>
            </a:r>
            <a:r>
              <a:rPr lang="en-US" sz="2000" dirty="0" err="1">
                <a:solidFill>
                  <a:schemeClr val="tx1">
                    <a:lumMod val="75000"/>
                    <a:lumOff val="25000"/>
                  </a:schemeClr>
                </a:solidFill>
              </a:rPr>
              <a:t>projenin</a:t>
            </a:r>
            <a:r>
              <a:rPr lang="en-US" sz="2000" dirty="0">
                <a:solidFill>
                  <a:schemeClr val="tx1">
                    <a:lumMod val="75000"/>
                    <a:lumOff val="25000"/>
                  </a:schemeClr>
                </a:solidFill>
              </a:rPr>
              <a:t> </a:t>
            </a:r>
            <a:r>
              <a:rPr lang="en-US" sz="2000" dirty="0" err="1">
                <a:solidFill>
                  <a:schemeClr val="tx1">
                    <a:lumMod val="75000"/>
                    <a:lumOff val="25000"/>
                  </a:schemeClr>
                </a:solidFill>
              </a:rPr>
              <a:t>başında</a:t>
            </a:r>
            <a:r>
              <a:rPr lang="en-US" sz="2000" dirty="0">
                <a:solidFill>
                  <a:schemeClr val="tx1">
                    <a:lumMod val="75000"/>
                    <a:lumOff val="25000"/>
                  </a:schemeClr>
                </a:solidFill>
              </a:rPr>
              <a:t> </a:t>
            </a:r>
            <a:r>
              <a:rPr lang="en-US" sz="2000" dirty="0" err="1">
                <a:solidFill>
                  <a:schemeClr val="tx1">
                    <a:lumMod val="75000"/>
                    <a:lumOff val="25000"/>
                  </a:schemeClr>
                </a:solidFill>
              </a:rPr>
              <a:t>gereksinimler</a:t>
            </a:r>
            <a:r>
              <a:rPr lang="en-US" sz="2000" dirty="0">
                <a:solidFill>
                  <a:schemeClr val="tx1">
                    <a:lumMod val="75000"/>
                    <a:lumOff val="25000"/>
                  </a:schemeClr>
                </a:solidFill>
              </a:rPr>
              <a:t>, </a:t>
            </a:r>
            <a:r>
              <a:rPr lang="en-US" sz="2000" dirty="0" err="1">
                <a:solidFill>
                  <a:schemeClr val="tx1">
                    <a:lumMod val="75000"/>
                    <a:lumOff val="25000"/>
                  </a:schemeClr>
                </a:solidFill>
              </a:rPr>
              <a:t>planlama</a:t>
            </a:r>
            <a:r>
              <a:rPr lang="en-US" sz="2000" dirty="0">
                <a:solidFill>
                  <a:schemeClr val="tx1">
                    <a:lumMod val="75000"/>
                    <a:lumOff val="25000"/>
                  </a:schemeClr>
                </a:solidFill>
              </a:rPr>
              <a:t> </a:t>
            </a:r>
            <a:r>
              <a:rPr lang="en-US" sz="2000" dirty="0" err="1">
                <a:solidFill>
                  <a:schemeClr val="tx1">
                    <a:lumMod val="75000"/>
                    <a:lumOff val="25000"/>
                  </a:schemeClr>
                </a:solidFill>
              </a:rPr>
              <a:t>ve</a:t>
            </a:r>
            <a:r>
              <a:rPr lang="en-US" sz="2000" dirty="0">
                <a:solidFill>
                  <a:schemeClr val="tx1">
                    <a:lumMod val="75000"/>
                    <a:lumOff val="25000"/>
                  </a:schemeClr>
                </a:solidFill>
              </a:rPr>
              <a:t> zaman </a:t>
            </a:r>
            <a:r>
              <a:rPr lang="en-US" sz="2000" dirty="0" err="1">
                <a:solidFill>
                  <a:schemeClr val="tx1">
                    <a:lumMod val="75000"/>
                    <a:lumOff val="25000"/>
                  </a:schemeClr>
                </a:solidFill>
              </a:rPr>
              <a:t>çizelgesi</a:t>
            </a:r>
            <a:r>
              <a:rPr lang="en-US" sz="2000" dirty="0">
                <a:solidFill>
                  <a:schemeClr val="tx1">
                    <a:lumMod val="75000"/>
                    <a:lumOff val="25000"/>
                  </a:schemeClr>
                </a:solidFill>
              </a:rPr>
              <a:t> net </a:t>
            </a:r>
            <a:r>
              <a:rPr lang="en-US" sz="2000" dirty="0" err="1">
                <a:solidFill>
                  <a:schemeClr val="tx1">
                    <a:lumMod val="75000"/>
                    <a:lumOff val="25000"/>
                  </a:schemeClr>
                </a:solidFill>
              </a:rPr>
              <a:t>olarak</a:t>
            </a:r>
            <a:r>
              <a:rPr lang="en-US" sz="2000" dirty="0">
                <a:solidFill>
                  <a:schemeClr val="tx1">
                    <a:lumMod val="75000"/>
                    <a:lumOff val="25000"/>
                  </a:schemeClr>
                </a:solidFill>
              </a:rPr>
              <a:t> </a:t>
            </a:r>
            <a:r>
              <a:rPr lang="en-US" sz="2000" dirty="0" err="1">
                <a:solidFill>
                  <a:schemeClr val="tx1">
                    <a:lumMod val="75000"/>
                    <a:lumOff val="25000"/>
                  </a:schemeClr>
                </a:solidFill>
              </a:rPr>
              <a:t>belliydi</a:t>
            </a:r>
            <a:r>
              <a:rPr lang="en-US" sz="2000" dirty="0">
                <a:solidFill>
                  <a:schemeClr val="tx1">
                    <a:lumMod val="75000"/>
                    <a:lumOff val="25000"/>
                  </a:schemeClr>
                </a:solidFill>
              </a:rPr>
              <a:t>. Bu </a:t>
            </a:r>
            <a:r>
              <a:rPr lang="en-US" sz="2000" dirty="0" err="1">
                <a:solidFill>
                  <a:schemeClr val="tx1">
                    <a:lumMod val="75000"/>
                    <a:lumOff val="25000"/>
                  </a:schemeClr>
                </a:solidFill>
              </a:rPr>
              <a:t>modeli</a:t>
            </a:r>
            <a:r>
              <a:rPr lang="en-US" sz="2000" dirty="0">
                <a:solidFill>
                  <a:schemeClr val="tx1">
                    <a:lumMod val="75000"/>
                    <a:lumOff val="25000"/>
                  </a:schemeClr>
                </a:solidFill>
              </a:rPr>
              <a:t> </a:t>
            </a:r>
            <a:r>
              <a:rPr lang="en-US" sz="2000" dirty="0" err="1">
                <a:solidFill>
                  <a:schemeClr val="tx1">
                    <a:lumMod val="75000"/>
                    <a:lumOff val="25000"/>
                  </a:schemeClr>
                </a:solidFill>
              </a:rPr>
              <a:t>kullanmamın</a:t>
            </a:r>
            <a:r>
              <a:rPr lang="en-US" sz="2000" dirty="0">
                <a:solidFill>
                  <a:schemeClr val="tx1">
                    <a:lumMod val="75000"/>
                    <a:lumOff val="25000"/>
                  </a:schemeClr>
                </a:solidFill>
              </a:rPr>
              <a:t> </a:t>
            </a:r>
            <a:r>
              <a:rPr lang="en-US" sz="2000" dirty="0" err="1">
                <a:solidFill>
                  <a:schemeClr val="tx1">
                    <a:lumMod val="75000"/>
                    <a:lumOff val="25000"/>
                  </a:schemeClr>
                </a:solidFill>
              </a:rPr>
              <a:t>avantajları</a:t>
            </a:r>
            <a:r>
              <a:rPr lang="en-US" sz="2000" dirty="0">
                <a:solidFill>
                  <a:schemeClr val="tx1">
                    <a:lumMod val="75000"/>
                    <a:lumOff val="25000"/>
                  </a:schemeClr>
                </a:solidFill>
              </a:rPr>
              <a:t> </a:t>
            </a:r>
            <a:r>
              <a:rPr lang="en-US" sz="2000" dirty="0" err="1">
                <a:solidFill>
                  <a:schemeClr val="tx1">
                    <a:lumMod val="75000"/>
                    <a:lumOff val="25000"/>
                  </a:schemeClr>
                </a:solidFill>
              </a:rPr>
              <a:t>olarak</a:t>
            </a:r>
            <a:r>
              <a:rPr lang="en-US" sz="2000" dirty="0">
                <a:solidFill>
                  <a:schemeClr val="tx1">
                    <a:lumMod val="75000"/>
                    <a:lumOff val="25000"/>
                  </a:schemeClr>
                </a:solidFill>
              </a:rPr>
              <a:t>; </a:t>
            </a:r>
            <a:r>
              <a:rPr lang="en-US" sz="2000" dirty="0" err="1">
                <a:solidFill>
                  <a:schemeClr val="tx1">
                    <a:lumMod val="75000"/>
                    <a:lumOff val="25000"/>
                  </a:schemeClr>
                </a:solidFill>
              </a:rPr>
              <a:t>öngörülebilirlik</a:t>
            </a:r>
            <a:r>
              <a:rPr lang="en-US" sz="2000" dirty="0">
                <a:solidFill>
                  <a:schemeClr val="tx1">
                    <a:lumMod val="75000"/>
                    <a:lumOff val="25000"/>
                  </a:schemeClr>
                </a:solidFill>
              </a:rPr>
              <a:t>, </a:t>
            </a:r>
            <a:r>
              <a:rPr lang="en-US" sz="2000" dirty="0" err="1">
                <a:solidFill>
                  <a:schemeClr val="tx1">
                    <a:lumMod val="75000"/>
                    <a:lumOff val="25000"/>
                  </a:schemeClr>
                </a:solidFill>
              </a:rPr>
              <a:t>belgelendirme</a:t>
            </a:r>
            <a:r>
              <a:rPr lang="en-US" sz="2000" dirty="0">
                <a:solidFill>
                  <a:schemeClr val="tx1">
                    <a:lumMod val="75000"/>
                    <a:lumOff val="25000"/>
                  </a:schemeClr>
                </a:solidFill>
              </a:rPr>
              <a:t> </a:t>
            </a:r>
            <a:r>
              <a:rPr lang="en-US" sz="2000" dirty="0" err="1">
                <a:solidFill>
                  <a:schemeClr val="tx1">
                    <a:lumMod val="75000"/>
                    <a:lumOff val="25000"/>
                  </a:schemeClr>
                </a:solidFill>
              </a:rPr>
              <a:t>ve</a:t>
            </a:r>
            <a:r>
              <a:rPr lang="en-US" sz="2000" dirty="0">
                <a:solidFill>
                  <a:schemeClr val="tx1">
                    <a:lumMod val="75000"/>
                    <a:lumOff val="25000"/>
                  </a:schemeClr>
                </a:solidFill>
              </a:rPr>
              <a:t> </a:t>
            </a:r>
            <a:r>
              <a:rPr lang="en-US" sz="2000" dirty="0" err="1">
                <a:solidFill>
                  <a:schemeClr val="tx1">
                    <a:lumMod val="75000"/>
                    <a:lumOff val="25000"/>
                  </a:schemeClr>
                </a:solidFill>
              </a:rPr>
              <a:t>kolay</a:t>
            </a:r>
            <a:r>
              <a:rPr lang="en-US" sz="2000" dirty="0">
                <a:solidFill>
                  <a:schemeClr val="tx1">
                    <a:lumMod val="75000"/>
                    <a:lumOff val="25000"/>
                  </a:schemeClr>
                </a:solidFill>
              </a:rPr>
              <a:t> </a:t>
            </a:r>
            <a:r>
              <a:rPr lang="en-US" sz="2000" dirty="0" err="1">
                <a:solidFill>
                  <a:schemeClr val="tx1">
                    <a:lumMod val="75000"/>
                    <a:lumOff val="25000"/>
                  </a:schemeClr>
                </a:solidFill>
              </a:rPr>
              <a:t>yönetimi</a:t>
            </a:r>
            <a:r>
              <a:rPr lang="en-US" sz="2000" dirty="0">
                <a:solidFill>
                  <a:schemeClr val="tx1">
                    <a:lumMod val="75000"/>
                    <a:lumOff val="25000"/>
                  </a:schemeClr>
                </a:solidFill>
              </a:rPr>
              <a:t> </a:t>
            </a:r>
            <a:r>
              <a:rPr lang="en-US" sz="2000" dirty="0" err="1">
                <a:solidFill>
                  <a:schemeClr val="tx1">
                    <a:lumMod val="75000"/>
                    <a:lumOff val="25000"/>
                  </a:schemeClr>
                </a:solidFill>
              </a:rPr>
              <a:t>sayabilirim</a:t>
            </a:r>
            <a:r>
              <a:rPr lang="en-US" sz="2000" dirty="0">
                <a:solidFill>
                  <a:schemeClr val="tx1">
                    <a:lumMod val="75000"/>
                    <a:lumOff val="25000"/>
                  </a:schemeClr>
                </a:solidFill>
              </a:rPr>
              <a:t>. </a:t>
            </a:r>
            <a:r>
              <a:rPr lang="en-US" sz="2000" dirty="0" err="1">
                <a:solidFill>
                  <a:schemeClr val="tx1">
                    <a:lumMod val="75000"/>
                    <a:lumOff val="25000"/>
                  </a:schemeClr>
                </a:solidFill>
              </a:rPr>
              <a:t>Dezavantaj</a:t>
            </a:r>
            <a:r>
              <a:rPr lang="en-US" sz="2000" dirty="0">
                <a:solidFill>
                  <a:schemeClr val="tx1">
                    <a:lumMod val="75000"/>
                    <a:lumOff val="25000"/>
                  </a:schemeClr>
                </a:solidFill>
              </a:rPr>
              <a:t> </a:t>
            </a:r>
            <a:r>
              <a:rPr lang="en-US" sz="2000" dirty="0" err="1">
                <a:solidFill>
                  <a:schemeClr val="tx1">
                    <a:lumMod val="75000"/>
                    <a:lumOff val="25000"/>
                  </a:schemeClr>
                </a:solidFill>
              </a:rPr>
              <a:t>olarak</a:t>
            </a:r>
            <a:r>
              <a:rPr lang="en-US" sz="2000" dirty="0">
                <a:solidFill>
                  <a:schemeClr val="tx1">
                    <a:lumMod val="75000"/>
                    <a:lumOff val="25000"/>
                  </a:schemeClr>
                </a:solidFill>
              </a:rPr>
              <a:t> </a:t>
            </a:r>
            <a:r>
              <a:rPr lang="en-US" sz="2000" dirty="0" err="1">
                <a:solidFill>
                  <a:schemeClr val="tx1">
                    <a:lumMod val="75000"/>
                    <a:lumOff val="25000"/>
                  </a:schemeClr>
                </a:solidFill>
              </a:rPr>
              <a:t>ise</a:t>
            </a:r>
            <a:r>
              <a:rPr lang="en-US" sz="2000" dirty="0">
                <a:solidFill>
                  <a:schemeClr val="tx1">
                    <a:lumMod val="75000"/>
                    <a:lumOff val="25000"/>
                  </a:schemeClr>
                </a:solidFill>
              </a:rPr>
              <a:t> </a:t>
            </a:r>
            <a:r>
              <a:rPr lang="en-US" sz="2000" dirty="0" err="1">
                <a:solidFill>
                  <a:schemeClr val="tx1">
                    <a:lumMod val="75000"/>
                    <a:lumOff val="25000"/>
                  </a:schemeClr>
                </a:solidFill>
              </a:rPr>
              <a:t>esneklik</a:t>
            </a:r>
            <a:r>
              <a:rPr lang="en-US" sz="2000" dirty="0">
                <a:solidFill>
                  <a:schemeClr val="tx1">
                    <a:lumMod val="75000"/>
                    <a:lumOff val="25000"/>
                  </a:schemeClr>
                </a:solidFill>
              </a:rPr>
              <a:t> </a:t>
            </a:r>
            <a:r>
              <a:rPr lang="en-US" sz="2000" dirty="0" err="1">
                <a:solidFill>
                  <a:schemeClr val="tx1">
                    <a:lumMod val="75000"/>
                    <a:lumOff val="25000"/>
                  </a:schemeClr>
                </a:solidFill>
              </a:rPr>
              <a:t>eksikliği</a:t>
            </a:r>
            <a:r>
              <a:rPr lang="tr-TR" sz="2000" dirty="0">
                <a:solidFill>
                  <a:schemeClr val="tx1">
                    <a:lumMod val="75000"/>
                    <a:lumOff val="25000"/>
                  </a:schemeClr>
                </a:solidFill>
              </a:rPr>
              <a:t> ve Test sürecinin geç başlaması diyebilirim. Ama benim projem için uygun bir model olduğunu düşünüyorum</a:t>
            </a:r>
            <a:endParaRPr lang="en-US" sz="2000" dirty="0">
              <a:solidFill>
                <a:schemeClr val="tx1">
                  <a:lumMod val="75000"/>
                  <a:lumOff val="25000"/>
                </a:schemeClr>
              </a:solidFill>
            </a:endParaRPr>
          </a:p>
        </p:txBody>
      </p:sp>
      <p:pic>
        <p:nvPicPr>
          <p:cNvPr id="6" name="Resim Yer Tutucusu 5">
            <a:extLst>
              <a:ext uri="{FF2B5EF4-FFF2-40B4-BE49-F238E27FC236}">
                <a16:creationId xmlns:a16="http://schemas.microsoft.com/office/drawing/2014/main" id="{C42AA4BD-B667-EB38-3EFE-94A7193C0B9D}"/>
              </a:ext>
            </a:extLst>
          </p:cNvPr>
          <p:cNvPicPr>
            <a:picLocks noGrp="1" noChangeAspect="1"/>
          </p:cNvPicPr>
          <p:nvPr>
            <p:ph type="pic" idx="1"/>
          </p:nvPr>
        </p:nvPicPr>
        <p:blipFill>
          <a:blip r:embed="rId3"/>
          <a:srcRect l="10584" r="9081" b="1"/>
          <a:stretch>
            <a:fillRect/>
          </a:stretch>
        </p:blipFill>
        <p:spPr>
          <a:xfrm>
            <a:off x="7575237" y="2368493"/>
            <a:ext cx="4048749" cy="4031812"/>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156076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02BCA69-D689-E582-70FC-93094D6E465E}"/>
              </a:ext>
            </a:extLst>
          </p:cNvPr>
          <p:cNvSpPr>
            <a:spLocks noGrp="1"/>
          </p:cNvSpPr>
          <p:nvPr>
            <p:ph type="title"/>
          </p:nvPr>
        </p:nvSpPr>
        <p:spPr/>
        <p:txBody>
          <a:bodyPr/>
          <a:lstStyle/>
          <a:p>
            <a:r>
              <a:rPr lang="tr-TR" b="1" dirty="0"/>
              <a:t>Analiz</a:t>
            </a:r>
          </a:p>
        </p:txBody>
      </p:sp>
      <p:sp>
        <p:nvSpPr>
          <p:cNvPr id="5" name="Metin kutusu 4">
            <a:extLst>
              <a:ext uri="{FF2B5EF4-FFF2-40B4-BE49-F238E27FC236}">
                <a16:creationId xmlns:a16="http://schemas.microsoft.com/office/drawing/2014/main" id="{4D867932-8CB1-7AAF-3EA0-EA7FFFDB3427}"/>
              </a:ext>
            </a:extLst>
          </p:cNvPr>
          <p:cNvSpPr txBox="1"/>
          <p:nvPr/>
        </p:nvSpPr>
        <p:spPr>
          <a:xfrm>
            <a:off x="504714" y="2349072"/>
            <a:ext cx="5794486" cy="3785652"/>
          </a:xfrm>
          <a:prstGeom prst="rect">
            <a:avLst/>
          </a:prstGeom>
          <a:noFill/>
        </p:spPr>
        <p:txBody>
          <a:bodyPr wrap="square" rtlCol="0">
            <a:spAutoFit/>
          </a:bodyPr>
          <a:lstStyle/>
          <a:p>
            <a:r>
              <a:rPr lang="tr-TR" sz="2400" b="1" dirty="0"/>
              <a:t>Fonksiyonel İhtiyaç Analizi</a:t>
            </a:r>
          </a:p>
          <a:p>
            <a:pPr marL="285750" indent="-285750">
              <a:buFont typeface="Arial" panose="020B0604020202020204" pitchFamily="34" charset="0"/>
              <a:buChar char="•"/>
            </a:pPr>
            <a:endParaRPr lang="tr-TR" sz="2000" dirty="0"/>
          </a:p>
          <a:p>
            <a:pPr marL="285750" indent="-285750">
              <a:buFont typeface="Arial" panose="020B0604020202020204" pitchFamily="34" charset="0"/>
              <a:buChar char="•"/>
            </a:pPr>
            <a:r>
              <a:rPr lang="tr-TR" sz="2000" dirty="0"/>
              <a:t>Kullanıcıların güvenli kayıt olması ve sadece kendi verilerine erişebilmesi</a:t>
            </a:r>
            <a:r>
              <a:rPr lang="tr-TR" dirty="0"/>
              <a:t>.</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sz="2000" dirty="0"/>
              <a:t>Soru hedeflerinin anlık izlenmesi ve tamamlanan derslerin silinebilmesi.</a:t>
            </a:r>
          </a:p>
          <a:p>
            <a:pPr marL="285750" indent="-285750">
              <a:buFont typeface="Arial" panose="020B0604020202020204" pitchFamily="34" charset="0"/>
              <a:buChar char="•"/>
            </a:pPr>
            <a:endParaRPr lang="tr-TR" sz="2000" dirty="0"/>
          </a:p>
          <a:p>
            <a:pPr marL="285750" indent="-285750">
              <a:buFont typeface="Arial" panose="020B0604020202020204" pitchFamily="34" charset="0"/>
              <a:buChar char="•"/>
            </a:pPr>
            <a:r>
              <a:rPr lang="tr-TR" sz="2000" dirty="0"/>
              <a:t>Zaman yönetimi için tarayıcı tabanlı bağımsız bir sayaç (</a:t>
            </a:r>
            <a:r>
              <a:rPr lang="tr-TR" sz="2000" dirty="0" err="1"/>
              <a:t>Pomodoro</a:t>
            </a:r>
            <a:r>
              <a:rPr lang="tr-TR" sz="2000" dirty="0"/>
              <a:t>) entegrasyonu.</a:t>
            </a:r>
          </a:p>
          <a:p>
            <a:pPr marL="285750" indent="-285750">
              <a:buFont typeface="Arial" panose="020B0604020202020204" pitchFamily="34" charset="0"/>
              <a:buChar char="•"/>
            </a:pPr>
            <a:endParaRPr lang="tr-TR" dirty="0"/>
          </a:p>
        </p:txBody>
      </p:sp>
      <p:sp>
        <p:nvSpPr>
          <p:cNvPr id="6" name="Metin kutusu 5">
            <a:extLst>
              <a:ext uri="{FF2B5EF4-FFF2-40B4-BE49-F238E27FC236}">
                <a16:creationId xmlns:a16="http://schemas.microsoft.com/office/drawing/2014/main" id="{D94C327A-1685-B54A-1F91-300805EDB8FC}"/>
              </a:ext>
            </a:extLst>
          </p:cNvPr>
          <p:cNvSpPr txBox="1"/>
          <p:nvPr/>
        </p:nvSpPr>
        <p:spPr>
          <a:xfrm>
            <a:off x="5892801" y="2349072"/>
            <a:ext cx="5394959" cy="2677656"/>
          </a:xfrm>
          <a:prstGeom prst="rect">
            <a:avLst/>
          </a:prstGeom>
          <a:noFill/>
        </p:spPr>
        <p:txBody>
          <a:bodyPr wrap="square" rtlCol="0">
            <a:spAutoFit/>
          </a:bodyPr>
          <a:lstStyle/>
          <a:p>
            <a:r>
              <a:rPr lang="tr-TR" sz="2400" b="1" dirty="0"/>
              <a:t>Teknik Ve Performans Analizi</a:t>
            </a:r>
          </a:p>
          <a:p>
            <a:endParaRPr lang="tr-TR" sz="2400" b="1" dirty="0"/>
          </a:p>
          <a:p>
            <a:pPr marL="342900" indent="-342900">
              <a:buFont typeface="Arial" panose="020B0604020202020204" pitchFamily="34" charset="0"/>
              <a:buChar char="•"/>
            </a:pPr>
            <a:r>
              <a:rPr lang="tr-TR" sz="2000" dirty="0"/>
              <a:t>Sayfa yenilenmeden dinamik veri güncellenmesi</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Sunucu ve </a:t>
            </a:r>
            <a:r>
              <a:rPr lang="tr-TR" sz="2000" dirty="0" err="1"/>
              <a:t>veritabanının</a:t>
            </a:r>
            <a:r>
              <a:rPr lang="tr-TR" sz="2000" dirty="0"/>
              <a:t> ek bir kurulum gerektirmeden lokalde (Node.js) hafif bir şekilde çalışması.</a:t>
            </a:r>
          </a:p>
        </p:txBody>
      </p:sp>
    </p:spTree>
    <p:extLst>
      <p:ext uri="{BB962C8B-B14F-4D97-AF65-F5344CB8AC3E}">
        <p14:creationId xmlns:p14="http://schemas.microsoft.com/office/powerpoint/2010/main" val="1881311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E0EAF87-1369-B843-48C0-E3DDAE0DA134}"/>
              </a:ext>
            </a:extLst>
          </p:cNvPr>
          <p:cNvSpPr>
            <a:spLocks noGrp="1"/>
          </p:cNvSpPr>
          <p:nvPr>
            <p:ph type="title"/>
          </p:nvPr>
        </p:nvSpPr>
        <p:spPr>
          <a:xfrm>
            <a:off x="741999" y="816352"/>
            <a:ext cx="8761413" cy="706964"/>
          </a:xfrm>
        </p:spPr>
        <p:txBody>
          <a:bodyPr/>
          <a:lstStyle/>
          <a:p>
            <a:r>
              <a:rPr lang="tr-TR" b="1" dirty="0"/>
              <a:t>Tasarım – Kağıt Prototip</a:t>
            </a:r>
          </a:p>
        </p:txBody>
      </p:sp>
      <p:pic>
        <p:nvPicPr>
          <p:cNvPr id="6" name="İçerik Yer Tutucusu 5">
            <a:extLst>
              <a:ext uri="{FF2B5EF4-FFF2-40B4-BE49-F238E27FC236}">
                <a16:creationId xmlns:a16="http://schemas.microsoft.com/office/drawing/2014/main" id="{796C58CA-52BA-2EB7-9500-5BFD8A9C7F9A}"/>
              </a:ext>
            </a:extLst>
          </p:cNvPr>
          <p:cNvPicPr>
            <a:picLocks noGrp="1" noChangeAspect="1"/>
          </p:cNvPicPr>
          <p:nvPr>
            <p:ph sz="half" idx="1"/>
          </p:nvPr>
        </p:nvPicPr>
        <p:blipFill>
          <a:blip r:embed="rId2"/>
          <a:stretch>
            <a:fillRect/>
          </a:stretch>
        </p:blipFill>
        <p:spPr>
          <a:xfrm>
            <a:off x="295361" y="2494820"/>
            <a:ext cx="5670051" cy="3812333"/>
          </a:xfrm>
          <a:prstGeom prst="rect">
            <a:avLst/>
          </a:prstGeom>
        </p:spPr>
      </p:pic>
      <p:pic>
        <p:nvPicPr>
          <p:cNvPr id="8" name="İçerik Yer Tutucusu 7">
            <a:extLst>
              <a:ext uri="{FF2B5EF4-FFF2-40B4-BE49-F238E27FC236}">
                <a16:creationId xmlns:a16="http://schemas.microsoft.com/office/drawing/2014/main" id="{9D896A6F-049C-D5C5-2BB8-883E9E4A9BDA}"/>
              </a:ext>
            </a:extLst>
          </p:cNvPr>
          <p:cNvPicPr>
            <a:picLocks noGrp="1" noChangeAspect="1"/>
          </p:cNvPicPr>
          <p:nvPr>
            <p:ph sz="half" idx="2"/>
          </p:nvPr>
        </p:nvPicPr>
        <p:blipFill>
          <a:blip r:embed="rId3"/>
          <a:stretch>
            <a:fillRect/>
          </a:stretch>
        </p:blipFill>
        <p:spPr>
          <a:xfrm>
            <a:off x="6096000" y="2494821"/>
            <a:ext cx="5800639" cy="3812333"/>
          </a:xfrm>
          <a:prstGeom prst="rect">
            <a:avLst/>
          </a:prstGeom>
        </p:spPr>
      </p:pic>
    </p:spTree>
    <p:extLst>
      <p:ext uri="{BB962C8B-B14F-4D97-AF65-F5344CB8AC3E}">
        <p14:creationId xmlns:p14="http://schemas.microsoft.com/office/powerpoint/2010/main" val="4012825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AD80BE-6F05-DAC8-D823-4A4F6C15826E}"/>
              </a:ext>
            </a:extLst>
          </p:cNvPr>
          <p:cNvSpPr>
            <a:spLocks noGrp="1"/>
          </p:cNvSpPr>
          <p:nvPr>
            <p:ph type="title"/>
          </p:nvPr>
        </p:nvSpPr>
        <p:spPr/>
        <p:txBody>
          <a:bodyPr/>
          <a:lstStyle/>
          <a:p>
            <a:r>
              <a:rPr lang="tr-TR" b="1" dirty="0"/>
              <a:t>Tasarım</a:t>
            </a:r>
          </a:p>
        </p:txBody>
      </p:sp>
      <p:sp>
        <p:nvSpPr>
          <p:cNvPr id="3" name="Metin kutusu 2">
            <a:extLst>
              <a:ext uri="{FF2B5EF4-FFF2-40B4-BE49-F238E27FC236}">
                <a16:creationId xmlns:a16="http://schemas.microsoft.com/office/drawing/2014/main" id="{4743604F-C8B2-664E-E1CA-04741288D8AE}"/>
              </a:ext>
            </a:extLst>
          </p:cNvPr>
          <p:cNvSpPr txBox="1"/>
          <p:nvPr/>
        </p:nvSpPr>
        <p:spPr>
          <a:xfrm>
            <a:off x="508000" y="2499360"/>
            <a:ext cx="4866640" cy="3293209"/>
          </a:xfrm>
          <a:prstGeom prst="rect">
            <a:avLst/>
          </a:prstGeom>
          <a:noFill/>
        </p:spPr>
        <p:txBody>
          <a:bodyPr wrap="square" rtlCol="0">
            <a:spAutoFit/>
          </a:bodyPr>
          <a:lstStyle/>
          <a:p>
            <a:r>
              <a:rPr lang="tr-TR" sz="2400" b="1" dirty="0"/>
              <a:t>Arayüz Tasarımı</a:t>
            </a:r>
          </a:p>
          <a:p>
            <a:pPr marL="342900" indent="-342900">
              <a:buFont typeface="Arial" panose="020B0604020202020204" pitchFamily="34" charset="0"/>
              <a:buChar char="•"/>
            </a:pPr>
            <a:r>
              <a:rPr lang="tr-TR" sz="2000" dirty="0"/>
              <a:t>Arayüz tasarımımda, kullanıcı tarafından ayarlanabilen Modern Dark/</a:t>
            </a:r>
            <a:r>
              <a:rPr lang="tr-TR" sz="2000" dirty="0" err="1"/>
              <a:t>Light</a:t>
            </a:r>
            <a:r>
              <a:rPr lang="tr-TR" sz="2000" dirty="0"/>
              <a:t> </a:t>
            </a:r>
            <a:r>
              <a:rPr lang="tr-TR" sz="2000" dirty="0" err="1"/>
              <a:t>Mode</a:t>
            </a:r>
            <a:r>
              <a:rPr lang="tr-TR" sz="2000" dirty="0"/>
              <a:t> teması kullanmayı tercih ettim. Kullanıcı gözünü yormayan, odaklanmayı artıran koyu renk paleti ve açık modda da açık renk pastel tonları (mor, turuncu, yeşil) kullandım.</a:t>
            </a:r>
          </a:p>
          <a:p>
            <a:endParaRPr lang="tr-TR" sz="2400" dirty="0"/>
          </a:p>
        </p:txBody>
      </p:sp>
      <p:pic>
        <p:nvPicPr>
          <p:cNvPr id="5" name="Resim 4">
            <a:extLst>
              <a:ext uri="{FF2B5EF4-FFF2-40B4-BE49-F238E27FC236}">
                <a16:creationId xmlns:a16="http://schemas.microsoft.com/office/drawing/2014/main" id="{252775A7-3070-1A43-9B2F-22330594B140}"/>
              </a:ext>
            </a:extLst>
          </p:cNvPr>
          <p:cNvPicPr>
            <a:picLocks noChangeAspect="1"/>
          </p:cNvPicPr>
          <p:nvPr/>
        </p:nvPicPr>
        <p:blipFill>
          <a:blip r:embed="rId2"/>
          <a:stretch>
            <a:fillRect/>
          </a:stretch>
        </p:blipFill>
        <p:spPr>
          <a:xfrm>
            <a:off x="5441818" y="2499360"/>
            <a:ext cx="3185436" cy="3619814"/>
          </a:xfrm>
          <a:prstGeom prst="rect">
            <a:avLst/>
          </a:prstGeom>
        </p:spPr>
      </p:pic>
      <p:pic>
        <p:nvPicPr>
          <p:cNvPr id="7" name="Resim 6">
            <a:extLst>
              <a:ext uri="{FF2B5EF4-FFF2-40B4-BE49-F238E27FC236}">
                <a16:creationId xmlns:a16="http://schemas.microsoft.com/office/drawing/2014/main" id="{E179B765-7D71-7610-BAAE-3393330F4562}"/>
              </a:ext>
            </a:extLst>
          </p:cNvPr>
          <p:cNvPicPr>
            <a:picLocks noChangeAspect="1"/>
          </p:cNvPicPr>
          <p:nvPr/>
        </p:nvPicPr>
        <p:blipFill>
          <a:blip r:embed="rId3"/>
          <a:stretch>
            <a:fillRect/>
          </a:stretch>
        </p:blipFill>
        <p:spPr>
          <a:xfrm>
            <a:off x="8785872" y="2499360"/>
            <a:ext cx="3177815" cy="3604572"/>
          </a:xfrm>
          <a:prstGeom prst="rect">
            <a:avLst/>
          </a:prstGeom>
        </p:spPr>
      </p:pic>
    </p:spTree>
    <p:extLst>
      <p:ext uri="{BB962C8B-B14F-4D97-AF65-F5344CB8AC3E}">
        <p14:creationId xmlns:p14="http://schemas.microsoft.com/office/powerpoint/2010/main" val="1492568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DF228AF-822F-4819-9EB8-406258D6BB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38D7DDBD-CAAB-4AE7-930D-FCE007CBD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a:extLst>
                <a:ext uri="{FF2B5EF4-FFF2-40B4-BE49-F238E27FC236}">
                  <a16:creationId xmlns:a16="http://schemas.microsoft.com/office/drawing/2014/main" id="{1DFEF9B7-500D-44A2-952F-C322F13C98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C4137BE8-DA41-4563-A6DE-A5D80DE6E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a:extLst>
                <a:ext uri="{FF2B5EF4-FFF2-40B4-BE49-F238E27FC236}">
                  <a16:creationId xmlns:a16="http://schemas.microsoft.com/office/drawing/2014/main" id="{D8D380D3-7714-4E3F-8BA2-66B22BFD4D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a:extLst>
                <a:ext uri="{FF2B5EF4-FFF2-40B4-BE49-F238E27FC236}">
                  <a16:creationId xmlns:a16="http://schemas.microsoft.com/office/drawing/2014/main" id="{4ECA7627-07BD-4F00-90E9-C6BB2199E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a:extLst>
                <a:ext uri="{FF2B5EF4-FFF2-40B4-BE49-F238E27FC236}">
                  <a16:creationId xmlns:a16="http://schemas.microsoft.com/office/drawing/2014/main" id="{261968C9-1992-4391-8E5B-1F358BB645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a:extLst>
                <a:ext uri="{FF2B5EF4-FFF2-40B4-BE49-F238E27FC236}">
                  <a16:creationId xmlns:a16="http://schemas.microsoft.com/office/drawing/2014/main" id="{308983D8-1DA4-4D97-A8B5-59825C0E4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a:extLst>
                <a:ext uri="{FF2B5EF4-FFF2-40B4-BE49-F238E27FC236}">
                  <a16:creationId xmlns:a16="http://schemas.microsoft.com/office/drawing/2014/main" id="{009B6231-043B-4F66-BCC4-813B76F77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a:extLst>
                <a:ext uri="{FF2B5EF4-FFF2-40B4-BE49-F238E27FC236}">
                  <a16:creationId xmlns:a16="http://schemas.microsoft.com/office/drawing/2014/main" id="{36B7E87D-14CF-4349-AC4D-69DF5D84EB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3" name="Rectangle 22">
            <a:extLst>
              <a:ext uri="{FF2B5EF4-FFF2-40B4-BE49-F238E27FC236}">
                <a16:creationId xmlns:a16="http://schemas.microsoft.com/office/drawing/2014/main" id="{4EB623E5-BC7C-4763-B7CD-C7D5F91F12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5" name="Rectangle 24">
            <a:extLst>
              <a:ext uri="{FF2B5EF4-FFF2-40B4-BE49-F238E27FC236}">
                <a16:creationId xmlns:a16="http://schemas.microsoft.com/office/drawing/2014/main" id="{D1DE3271-DD99-4DEF-AF9F-84397884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27" name="Freeform: Shape 26">
            <a:extLst>
              <a:ext uri="{FF2B5EF4-FFF2-40B4-BE49-F238E27FC236}">
                <a16:creationId xmlns:a16="http://schemas.microsoft.com/office/drawing/2014/main" id="{E06A31CE-F9B6-4BA2-8685-60F3524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sp>
        <p:nvSpPr>
          <p:cNvPr id="29" name="Freeform 5">
            <a:extLst>
              <a:ext uri="{FF2B5EF4-FFF2-40B4-BE49-F238E27FC236}">
                <a16:creationId xmlns:a16="http://schemas.microsoft.com/office/drawing/2014/main" id="{8ADF14A3-1454-4B74-8B4A-CB197D7A7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sp>
        <p:nvSpPr>
          <p:cNvPr id="31" name="Freeform 5">
            <a:extLst>
              <a:ext uri="{FF2B5EF4-FFF2-40B4-BE49-F238E27FC236}">
                <a16:creationId xmlns:a16="http://schemas.microsoft.com/office/drawing/2014/main" id="{EC19D556-0251-4E87-AE24-890965BA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Metin kutusu 1">
            <a:extLst>
              <a:ext uri="{FF2B5EF4-FFF2-40B4-BE49-F238E27FC236}">
                <a16:creationId xmlns:a16="http://schemas.microsoft.com/office/drawing/2014/main" id="{525F8408-B2CB-1033-C791-97983F2AC934}"/>
              </a:ext>
            </a:extLst>
          </p:cNvPr>
          <p:cNvSpPr txBox="1"/>
          <p:nvPr/>
        </p:nvSpPr>
        <p:spPr>
          <a:xfrm>
            <a:off x="639098" y="629265"/>
            <a:ext cx="5132438" cy="1622322"/>
          </a:xfrm>
          <a:prstGeom prst="rect">
            <a:avLst/>
          </a:prstGeom>
        </p:spPr>
        <p:txBody>
          <a:bodyPr vert="horz" lIns="91440" tIns="45720" rIns="91440" bIns="45720" rtlCol="0" anchor="ctr">
            <a:normAutofit/>
          </a:bodyPr>
          <a:lstStyle/>
          <a:p>
            <a:pPr marL="457200" indent="-457200">
              <a:spcBef>
                <a:spcPct val="0"/>
              </a:spcBef>
              <a:spcAft>
                <a:spcPts val="600"/>
              </a:spcAft>
            </a:pPr>
            <a:r>
              <a:rPr lang="en-US" sz="3600" b="1" i="0" kern="1200" dirty="0" err="1">
                <a:latin typeface="+mj-lt"/>
                <a:ea typeface="+mj-ea"/>
                <a:cs typeface="+mj-cs"/>
              </a:rPr>
              <a:t>Tasarım</a:t>
            </a:r>
            <a:endParaRPr lang="en-US" sz="3600" b="1" i="0" kern="1200" dirty="0">
              <a:latin typeface="+mj-lt"/>
              <a:ea typeface="+mj-ea"/>
              <a:cs typeface="+mj-cs"/>
            </a:endParaRPr>
          </a:p>
        </p:txBody>
      </p:sp>
      <p:sp>
        <p:nvSpPr>
          <p:cNvPr id="33" name="Rectangle 32">
            <a:extLst>
              <a:ext uri="{FF2B5EF4-FFF2-40B4-BE49-F238E27FC236}">
                <a16:creationId xmlns:a16="http://schemas.microsoft.com/office/drawing/2014/main" id="{CBC3C8C6-98E2-45EF-AEFC-30C0DBA0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Metin kutusu 2">
            <a:extLst>
              <a:ext uri="{FF2B5EF4-FFF2-40B4-BE49-F238E27FC236}">
                <a16:creationId xmlns:a16="http://schemas.microsoft.com/office/drawing/2014/main" id="{CC9887BB-F024-7FC5-4DEC-371F98FCDD79}"/>
              </a:ext>
            </a:extLst>
          </p:cNvPr>
          <p:cNvSpPr txBox="1"/>
          <p:nvPr/>
        </p:nvSpPr>
        <p:spPr>
          <a:xfrm>
            <a:off x="639098" y="2055658"/>
            <a:ext cx="5132439" cy="3811742"/>
          </a:xfrm>
          <a:prstGeom prst="rect">
            <a:avLst/>
          </a:prstGeom>
        </p:spPr>
        <p:txBody>
          <a:bodyPr vert="horz" lIns="91440" tIns="45720" rIns="91440" bIns="45720" rtlCol="0" anchor="ctr">
            <a:normAutofit/>
          </a:bodyPr>
          <a:lstStyle/>
          <a:p>
            <a:pPr>
              <a:spcBef>
                <a:spcPts val="1000"/>
              </a:spcBef>
              <a:buClr>
                <a:schemeClr val="accent1"/>
              </a:buClr>
              <a:buSzPct val="80000"/>
              <a:buFont typeface="Wingdings 3" charset="2"/>
              <a:buChar char=""/>
            </a:pPr>
            <a:r>
              <a:rPr lang="en-US" sz="2400" b="1" dirty="0" err="1"/>
              <a:t>Veritabanı</a:t>
            </a:r>
            <a:r>
              <a:rPr lang="en-US" sz="2400" b="1" dirty="0"/>
              <a:t> </a:t>
            </a:r>
            <a:r>
              <a:rPr lang="en-US" sz="2400" b="1" dirty="0" err="1"/>
              <a:t>Tasarımı</a:t>
            </a:r>
            <a:r>
              <a:rPr lang="tr-TR" sz="2400" b="1" dirty="0"/>
              <a:t>;</a:t>
            </a:r>
            <a:endParaRPr lang="en-US" sz="2400" b="1" dirty="0"/>
          </a:p>
          <a:p>
            <a:pPr>
              <a:spcBef>
                <a:spcPts val="1000"/>
              </a:spcBef>
              <a:buClr>
                <a:schemeClr val="accent1"/>
              </a:buClr>
              <a:buSzPct val="80000"/>
              <a:buFont typeface="Wingdings 3" charset="2"/>
              <a:buChar char=""/>
            </a:pPr>
            <a:endParaRPr lang="en-US" dirty="0"/>
          </a:p>
          <a:p>
            <a:pPr marL="342900" indent="-342900">
              <a:spcBef>
                <a:spcPts val="1000"/>
              </a:spcBef>
              <a:buClr>
                <a:schemeClr val="accent1"/>
              </a:buClr>
              <a:buSzPct val="80000"/>
              <a:buFont typeface="Wingdings 3" charset="2"/>
              <a:buChar char=""/>
            </a:pPr>
            <a:r>
              <a:rPr lang="en-US" sz="2000" dirty="0" err="1"/>
              <a:t>Kayıt</a:t>
            </a:r>
            <a:r>
              <a:rPr lang="en-US" sz="2000" dirty="0"/>
              <a:t> </a:t>
            </a:r>
            <a:r>
              <a:rPr lang="en-US" sz="2000" dirty="0" err="1"/>
              <a:t>ol</a:t>
            </a:r>
            <a:r>
              <a:rPr lang="en-US" sz="2000" dirty="0"/>
              <a:t>, </a:t>
            </a:r>
            <a:r>
              <a:rPr lang="en-US" sz="2000" dirty="0" err="1"/>
              <a:t>Giriş</a:t>
            </a:r>
            <a:r>
              <a:rPr lang="en-US" sz="2000" dirty="0"/>
              <a:t> yap </a:t>
            </a:r>
            <a:r>
              <a:rPr lang="en-US" sz="2000" dirty="0" err="1"/>
              <a:t>tabloları</a:t>
            </a:r>
            <a:r>
              <a:rPr lang="en-US" sz="2000" dirty="0"/>
              <a:t> </a:t>
            </a:r>
            <a:r>
              <a:rPr lang="en-US" sz="2000" dirty="0" err="1"/>
              <a:t>arasındaki</a:t>
            </a:r>
            <a:r>
              <a:rPr lang="en-US" sz="2000" dirty="0"/>
              <a:t> </a:t>
            </a:r>
            <a:r>
              <a:rPr lang="en-US" sz="2000" dirty="0" err="1"/>
              <a:t>bağlantı</a:t>
            </a:r>
            <a:r>
              <a:rPr lang="en-US" sz="2000" dirty="0"/>
              <a:t>,</a:t>
            </a:r>
          </a:p>
          <a:p>
            <a:pPr marL="342900" indent="-342900">
              <a:spcBef>
                <a:spcPts val="1000"/>
              </a:spcBef>
              <a:buClr>
                <a:schemeClr val="accent1"/>
              </a:buClr>
              <a:buSzPct val="80000"/>
              <a:buFont typeface="Wingdings 3" charset="2"/>
              <a:buChar char=""/>
            </a:pPr>
            <a:endParaRPr lang="en-US" dirty="0"/>
          </a:p>
          <a:p>
            <a:pPr marL="342900" indent="-342900">
              <a:spcBef>
                <a:spcPts val="1000"/>
              </a:spcBef>
              <a:buClr>
                <a:schemeClr val="accent1"/>
              </a:buClr>
              <a:buSzPct val="80000"/>
              <a:buFont typeface="Wingdings 3" charset="2"/>
              <a:buChar char=""/>
            </a:pPr>
            <a:r>
              <a:rPr lang="en-US" sz="2000" dirty="0" err="1"/>
              <a:t>Kullanıcılar</a:t>
            </a:r>
            <a:r>
              <a:rPr lang="en-US" sz="2000" dirty="0"/>
              <a:t>, Ders </a:t>
            </a:r>
            <a:r>
              <a:rPr lang="en-US" sz="2000" dirty="0" err="1"/>
              <a:t>ilerleme</a:t>
            </a:r>
            <a:r>
              <a:rPr lang="en-US" sz="2000" dirty="0"/>
              <a:t> </a:t>
            </a:r>
            <a:r>
              <a:rPr lang="en-US" sz="2000" dirty="0" err="1"/>
              <a:t>ve</a:t>
            </a:r>
            <a:r>
              <a:rPr lang="en-US" sz="2000" dirty="0"/>
              <a:t> </a:t>
            </a:r>
            <a:r>
              <a:rPr lang="en-US" sz="2000" dirty="0" err="1"/>
              <a:t>Haftalık</a:t>
            </a:r>
            <a:r>
              <a:rPr lang="en-US" sz="2000" dirty="0"/>
              <a:t> Program </a:t>
            </a:r>
            <a:r>
              <a:rPr lang="en-US" sz="2000" dirty="0" err="1"/>
              <a:t>tabloları</a:t>
            </a:r>
            <a:r>
              <a:rPr lang="en-US" sz="2000" dirty="0"/>
              <a:t> </a:t>
            </a:r>
            <a:r>
              <a:rPr lang="en-US" sz="2000" dirty="0" err="1"/>
              <a:t>arasında</a:t>
            </a:r>
            <a:r>
              <a:rPr lang="en-US" sz="2000" dirty="0"/>
              <a:t> </a:t>
            </a:r>
            <a:r>
              <a:rPr lang="en-US" sz="2000" dirty="0" err="1"/>
              <a:t>kurulan</a:t>
            </a:r>
            <a:r>
              <a:rPr lang="en-US" sz="2000" dirty="0"/>
              <a:t> </a:t>
            </a:r>
            <a:r>
              <a:rPr lang="en-US" sz="2000" dirty="0" err="1"/>
              <a:t>ilişkisel</a:t>
            </a:r>
            <a:r>
              <a:rPr lang="en-US" sz="2000" dirty="0"/>
              <a:t> </a:t>
            </a:r>
            <a:r>
              <a:rPr lang="en-US" sz="2000" dirty="0" err="1"/>
              <a:t>yapı</a:t>
            </a:r>
            <a:endParaRPr lang="en-US" sz="2000" dirty="0"/>
          </a:p>
          <a:p>
            <a:pPr>
              <a:spcBef>
                <a:spcPts val="1000"/>
              </a:spcBef>
              <a:buClr>
                <a:schemeClr val="accent1"/>
              </a:buClr>
              <a:buSzPct val="80000"/>
              <a:buFont typeface="Wingdings 3" charset="2"/>
              <a:buChar char=""/>
            </a:pPr>
            <a:endParaRPr lang="en-US" dirty="0"/>
          </a:p>
        </p:txBody>
      </p:sp>
      <p:pic>
        <p:nvPicPr>
          <p:cNvPr id="5" name="Resim 4">
            <a:extLst>
              <a:ext uri="{FF2B5EF4-FFF2-40B4-BE49-F238E27FC236}">
                <a16:creationId xmlns:a16="http://schemas.microsoft.com/office/drawing/2014/main" id="{8ED58A2E-BB70-DA4A-EF37-3784CD708094}"/>
              </a:ext>
            </a:extLst>
          </p:cNvPr>
          <p:cNvPicPr>
            <a:picLocks noChangeAspect="1"/>
          </p:cNvPicPr>
          <p:nvPr/>
        </p:nvPicPr>
        <p:blipFill>
          <a:blip r:embed="rId3"/>
          <a:stretch>
            <a:fillRect/>
          </a:stretch>
        </p:blipFill>
        <p:spPr>
          <a:xfrm>
            <a:off x="6689958" y="1569039"/>
            <a:ext cx="4828707" cy="1543422"/>
          </a:xfrm>
          <a:prstGeom prst="rect">
            <a:avLst/>
          </a:prstGeom>
        </p:spPr>
      </p:pic>
      <p:pic>
        <p:nvPicPr>
          <p:cNvPr id="7" name="Resim 6">
            <a:extLst>
              <a:ext uri="{FF2B5EF4-FFF2-40B4-BE49-F238E27FC236}">
                <a16:creationId xmlns:a16="http://schemas.microsoft.com/office/drawing/2014/main" id="{C58806BB-1CC7-3076-D1A9-3E89E7041619}"/>
              </a:ext>
            </a:extLst>
          </p:cNvPr>
          <p:cNvPicPr>
            <a:picLocks noChangeAspect="1"/>
          </p:cNvPicPr>
          <p:nvPr/>
        </p:nvPicPr>
        <p:blipFill>
          <a:blip r:embed="rId4"/>
          <a:stretch>
            <a:fillRect/>
          </a:stretch>
        </p:blipFill>
        <p:spPr>
          <a:xfrm>
            <a:off x="6712909" y="3859486"/>
            <a:ext cx="4828707" cy="2031589"/>
          </a:xfrm>
          <a:prstGeom prst="rect">
            <a:avLst/>
          </a:prstGeom>
        </p:spPr>
      </p:pic>
    </p:spTree>
    <p:extLst>
      <p:ext uri="{BB962C8B-B14F-4D97-AF65-F5344CB8AC3E}">
        <p14:creationId xmlns:p14="http://schemas.microsoft.com/office/powerpoint/2010/main" val="2362908794"/>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23F117C-73F3-40F0-976E-3A1C4B4F8BDA}"/>
              </a:ext>
            </a:extLst>
          </p:cNvPr>
          <p:cNvSpPr>
            <a:spLocks noGrp="1"/>
          </p:cNvSpPr>
          <p:nvPr>
            <p:ph type="title"/>
          </p:nvPr>
        </p:nvSpPr>
        <p:spPr/>
        <p:txBody>
          <a:bodyPr/>
          <a:lstStyle/>
          <a:p>
            <a:r>
              <a:rPr lang="tr-TR" b="1" dirty="0"/>
              <a:t>Kodlama</a:t>
            </a:r>
          </a:p>
        </p:txBody>
      </p:sp>
      <p:sp>
        <p:nvSpPr>
          <p:cNvPr id="3" name="Metin kutusu 2">
            <a:extLst>
              <a:ext uri="{FF2B5EF4-FFF2-40B4-BE49-F238E27FC236}">
                <a16:creationId xmlns:a16="http://schemas.microsoft.com/office/drawing/2014/main" id="{D81C7FC1-C445-9E7E-695E-A760CABBF3F6}"/>
              </a:ext>
            </a:extLst>
          </p:cNvPr>
          <p:cNvSpPr txBox="1"/>
          <p:nvPr/>
        </p:nvSpPr>
        <p:spPr>
          <a:xfrm>
            <a:off x="375920" y="2413337"/>
            <a:ext cx="7199407" cy="1015663"/>
          </a:xfrm>
          <a:prstGeom prst="rect">
            <a:avLst/>
          </a:prstGeom>
          <a:noFill/>
        </p:spPr>
        <p:txBody>
          <a:bodyPr wrap="none" rtlCol="0">
            <a:spAutoFit/>
          </a:bodyPr>
          <a:lstStyle/>
          <a:p>
            <a:r>
              <a:rPr lang="tr-TR" sz="2000" dirty="0"/>
              <a:t>Projemi gerçekleştirirken kullandığım programlama dilleri;</a:t>
            </a:r>
          </a:p>
          <a:p>
            <a:pPr marL="342900" indent="-342900">
              <a:buFont typeface="Arial" panose="020B0604020202020204" pitchFamily="34" charset="0"/>
              <a:buChar char="•"/>
            </a:pPr>
            <a:r>
              <a:rPr lang="tr-TR" sz="2000" i="1" dirty="0"/>
              <a:t>HTML, CSS, JAVASCRİPT, SQL</a:t>
            </a:r>
          </a:p>
          <a:p>
            <a:pPr marL="342900" indent="-342900">
              <a:buFont typeface="Arial" panose="020B0604020202020204" pitchFamily="34" charset="0"/>
              <a:buChar char="•"/>
            </a:pPr>
            <a:r>
              <a:rPr lang="tr-TR" sz="2000" i="1" dirty="0"/>
              <a:t>Kodlarımı VS </a:t>
            </a:r>
            <a:r>
              <a:rPr lang="tr-TR" sz="2000" i="1" dirty="0" err="1"/>
              <a:t>Code</a:t>
            </a:r>
            <a:r>
              <a:rPr lang="tr-TR" sz="2000" i="1" dirty="0"/>
              <a:t> üzerinde yazdım.</a:t>
            </a:r>
          </a:p>
        </p:txBody>
      </p:sp>
      <p:sp>
        <p:nvSpPr>
          <p:cNvPr id="6" name="Metin kutusu 5">
            <a:extLst>
              <a:ext uri="{FF2B5EF4-FFF2-40B4-BE49-F238E27FC236}">
                <a16:creationId xmlns:a16="http://schemas.microsoft.com/office/drawing/2014/main" id="{BEB9754B-C733-2F43-F75D-BEFEDA6361A3}"/>
              </a:ext>
            </a:extLst>
          </p:cNvPr>
          <p:cNvSpPr txBox="1"/>
          <p:nvPr/>
        </p:nvSpPr>
        <p:spPr>
          <a:xfrm>
            <a:off x="477520" y="3707150"/>
            <a:ext cx="6035040" cy="2616101"/>
          </a:xfrm>
          <a:prstGeom prst="rect">
            <a:avLst/>
          </a:prstGeom>
          <a:noFill/>
        </p:spPr>
        <p:txBody>
          <a:bodyPr wrap="square" rtlCol="0">
            <a:spAutoFit/>
          </a:bodyPr>
          <a:lstStyle/>
          <a:p>
            <a:r>
              <a:rPr lang="tr-TR" sz="2000" b="1" dirty="0"/>
              <a:t>                              </a:t>
            </a:r>
            <a:r>
              <a:rPr lang="tr-TR" sz="2400" b="1" dirty="0"/>
              <a:t>BACKEND</a:t>
            </a:r>
          </a:p>
          <a:p>
            <a:r>
              <a:rPr lang="tr-TR" sz="2000" b="1" dirty="0"/>
              <a:t>SQL: </a:t>
            </a:r>
            <a:r>
              <a:rPr lang="tr-TR" sz="2000" dirty="0"/>
              <a:t>Kullanıcıların, derslerin ve haftalık programın </a:t>
            </a:r>
            <a:r>
              <a:rPr lang="tr-TR" sz="2000" dirty="0" err="1"/>
              <a:t>veritabanına</a:t>
            </a:r>
            <a:r>
              <a:rPr lang="tr-TR" sz="2000" dirty="0"/>
              <a:t> kaydedilmesi, silinmesi işlemlerinin kaydedildiği kısım.</a:t>
            </a:r>
          </a:p>
          <a:p>
            <a:endParaRPr lang="tr-TR" sz="2000" b="1" dirty="0"/>
          </a:p>
          <a:p>
            <a:r>
              <a:rPr lang="tr-TR" sz="2000" b="1" dirty="0"/>
              <a:t>Node.js: </a:t>
            </a:r>
            <a:r>
              <a:rPr lang="tr-TR" sz="2000" dirty="0"/>
              <a:t>Sitenin bilgisayarda server gibi çalışmasını sağlayan çalışma ortamını kullandım.</a:t>
            </a:r>
            <a:endParaRPr lang="tr-TR" sz="2000" b="1" dirty="0"/>
          </a:p>
        </p:txBody>
      </p:sp>
      <p:sp>
        <p:nvSpPr>
          <p:cNvPr id="8" name="Metin kutusu 7">
            <a:extLst>
              <a:ext uri="{FF2B5EF4-FFF2-40B4-BE49-F238E27FC236}">
                <a16:creationId xmlns:a16="http://schemas.microsoft.com/office/drawing/2014/main" id="{DFB5ED15-DFFB-A68E-7EE9-6CB2EAECB2A9}"/>
              </a:ext>
            </a:extLst>
          </p:cNvPr>
          <p:cNvSpPr txBox="1"/>
          <p:nvPr/>
        </p:nvSpPr>
        <p:spPr>
          <a:xfrm>
            <a:off x="6766561" y="3342303"/>
            <a:ext cx="4419600" cy="3477875"/>
          </a:xfrm>
          <a:prstGeom prst="rect">
            <a:avLst/>
          </a:prstGeom>
          <a:noFill/>
        </p:spPr>
        <p:txBody>
          <a:bodyPr wrap="square" rtlCol="0">
            <a:spAutoFit/>
          </a:bodyPr>
          <a:lstStyle/>
          <a:p>
            <a:r>
              <a:rPr lang="tr-TR" sz="2000" b="1" dirty="0"/>
              <a:t>HTML: </a:t>
            </a:r>
            <a:r>
              <a:rPr lang="tr-TR" sz="2000" dirty="0"/>
              <a:t>Sitenin iskeletini, yazılarını ve butonlarının yerlerini oluşturmak için kullandım.</a:t>
            </a:r>
          </a:p>
          <a:p>
            <a:r>
              <a:rPr lang="tr-TR" sz="2000" b="1" dirty="0"/>
              <a:t>CSS: </a:t>
            </a:r>
            <a:r>
              <a:rPr lang="tr-TR" sz="2000" dirty="0"/>
              <a:t>Sitemi renklendirmek, </a:t>
            </a:r>
            <a:r>
              <a:rPr lang="tr-TR" sz="2000" dirty="0" err="1"/>
              <a:t>dark</a:t>
            </a:r>
            <a:r>
              <a:rPr lang="tr-TR" sz="2000" dirty="0"/>
              <a:t>/</a:t>
            </a:r>
            <a:r>
              <a:rPr lang="tr-TR" sz="2000" dirty="0" err="1"/>
              <a:t>light</a:t>
            </a:r>
            <a:r>
              <a:rPr lang="tr-TR" sz="2000" dirty="0"/>
              <a:t> </a:t>
            </a:r>
            <a:r>
              <a:rPr lang="tr-TR" sz="2000" dirty="0" err="1"/>
              <a:t>mode</a:t>
            </a:r>
            <a:r>
              <a:rPr lang="tr-TR" sz="2000" dirty="0"/>
              <a:t> eklemek ve kutuların düzenini vermek için kullandım.</a:t>
            </a:r>
          </a:p>
          <a:p>
            <a:r>
              <a:rPr lang="tr-TR" sz="2000" b="1" dirty="0"/>
              <a:t>JavaScript</a:t>
            </a:r>
            <a:r>
              <a:rPr lang="tr-TR" sz="2000" dirty="0"/>
              <a:t>: Sayfama dinamiklik katmak için, </a:t>
            </a:r>
            <a:r>
              <a:rPr lang="tr-TR" sz="2000" dirty="0" err="1"/>
              <a:t>pomodoro</a:t>
            </a:r>
            <a:r>
              <a:rPr lang="tr-TR" sz="2000" dirty="0"/>
              <a:t> sayacı grafikler ve ders eklemeleri için kullandım.</a:t>
            </a:r>
          </a:p>
        </p:txBody>
      </p:sp>
      <p:sp>
        <p:nvSpPr>
          <p:cNvPr id="9" name="Metin kutusu 8">
            <a:extLst>
              <a:ext uri="{FF2B5EF4-FFF2-40B4-BE49-F238E27FC236}">
                <a16:creationId xmlns:a16="http://schemas.microsoft.com/office/drawing/2014/main" id="{3C95AADF-535F-99FE-B8E3-789FA9FD3C45}"/>
              </a:ext>
            </a:extLst>
          </p:cNvPr>
          <p:cNvSpPr txBox="1"/>
          <p:nvPr/>
        </p:nvSpPr>
        <p:spPr>
          <a:xfrm>
            <a:off x="7894320" y="2834471"/>
            <a:ext cx="1728358" cy="461665"/>
          </a:xfrm>
          <a:prstGeom prst="rect">
            <a:avLst/>
          </a:prstGeom>
          <a:noFill/>
        </p:spPr>
        <p:txBody>
          <a:bodyPr wrap="none" rtlCol="0">
            <a:spAutoFit/>
          </a:bodyPr>
          <a:lstStyle/>
          <a:p>
            <a:r>
              <a:rPr lang="tr-TR" sz="2400" b="1" dirty="0"/>
              <a:t>FRONTEND</a:t>
            </a:r>
          </a:p>
        </p:txBody>
      </p:sp>
    </p:spTree>
    <p:extLst>
      <p:ext uri="{BB962C8B-B14F-4D97-AF65-F5344CB8AC3E}">
        <p14:creationId xmlns:p14="http://schemas.microsoft.com/office/powerpoint/2010/main" val="1705275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126856-120C-66BA-421D-96B413821502}"/>
              </a:ext>
            </a:extLst>
          </p:cNvPr>
          <p:cNvSpPr>
            <a:spLocks noGrp="1"/>
          </p:cNvSpPr>
          <p:nvPr>
            <p:ph type="title"/>
          </p:nvPr>
        </p:nvSpPr>
        <p:spPr/>
        <p:txBody>
          <a:bodyPr/>
          <a:lstStyle/>
          <a:p>
            <a:r>
              <a:rPr lang="tr-TR" b="1" dirty="0"/>
              <a:t>BAKIM</a:t>
            </a:r>
          </a:p>
        </p:txBody>
      </p:sp>
      <p:sp>
        <p:nvSpPr>
          <p:cNvPr id="3" name="Metin Yer Tutucusu 2">
            <a:extLst>
              <a:ext uri="{FF2B5EF4-FFF2-40B4-BE49-F238E27FC236}">
                <a16:creationId xmlns:a16="http://schemas.microsoft.com/office/drawing/2014/main" id="{517FE574-5402-C591-2FFD-8B2ABD4659BB}"/>
              </a:ext>
            </a:extLst>
          </p:cNvPr>
          <p:cNvSpPr>
            <a:spLocks noGrp="1"/>
          </p:cNvSpPr>
          <p:nvPr>
            <p:ph type="body" idx="1"/>
          </p:nvPr>
        </p:nvSpPr>
        <p:spPr/>
        <p:txBody>
          <a:bodyPr/>
          <a:lstStyle/>
          <a:p>
            <a:r>
              <a:rPr lang="tr-TR" dirty="0"/>
              <a:t>Kod Temizliği Ve Optimizasyon</a:t>
            </a:r>
          </a:p>
        </p:txBody>
      </p:sp>
      <p:sp>
        <p:nvSpPr>
          <p:cNvPr id="4" name="İçerik Yer Tutucusu 3">
            <a:extLst>
              <a:ext uri="{FF2B5EF4-FFF2-40B4-BE49-F238E27FC236}">
                <a16:creationId xmlns:a16="http://schemas.microsoft.com/office/drawing/2014/main" id="{3637C1F4-E6B8-AA51-B486-0ABAFD15F43F}"/>
              </a:ext>
            </a:extLst>
          </p:cNvPr>
          <p:cNvSpPr>
            <a:spLocks noGrp="1"/>
          </p:cNvSpPr>
          <p:nvPr>
            <p:ph sz="half" idx="2"/>
          </p:nvPr>
        </p:nvSpPr>
        <p:spPr/>
        <p:txBody>
          <a:bodyPr>
            <a:normAutofit/>
          </a:bodyPr>
          <a:lstStyle/>
          <a:p>
            <a:r>
              <a:rPr lang="tr-TR" sz="2000" dirty="0"/>
              <a:t>Kodların arasında kalan gereksiz deneme satırlarının silinmesi ve projenin daha hızlı çalışması için sadeleştirilmesi.</a:t>
            </a:r>
          </a:p>
          <a:p>
            <a:r>
              <a:rPr lang="tr-TR" sz="2000" dirty="0"/>
              <a:t>Sitede yapılan denemelerden kalan test kullanıcılarının ve hatalı verilerin </a:t>
            </a:r>
            <a:r>
              <a:rPr lang="tr-TR" sz="2000" dirty="0" err="1"/>
              <a:t>veritabanından</a:t>
            </a:r>
            <a:r>
              <a:rPr lang="tr-TR" sz="2000" dirty="0"/>
              <a:t> temizlenmesi.</a:t>
            </a:r>
          </a:p>
        </p:txBody>
      </p:sp>
      <p:sp>
        <p:nvSpPr>
          <p:cNvPr id="5" name="Metin Yer Tutucusu 4">
            <a:extLst>
              <a:ext uri="{FF2B5EF4-FFF2-40B4-BE49-F238E27FC236}">
                <a16:creationId xmlns:a16="http://schemas.microsoft.com/office/drawing/2014/main" id="{71E7048F-CA63-83BA-F087-F79316830FCA}"/>
              </a:ext>
            </a:extLst>
          </p:cNvPr>
          <p:cNvSpPr>
            <a:spLocks noGrp="1"/>
          </p:cNvSpPr>
          <p:nvPr>
            <p:ph type="body" sz="quarter" idx="3"/>
          </p:nvPr>
        </p:nvSpPr>
        <p:spPr/>
        <p:txBody>
          <a:bodyPr/>
          <a:lstStyle/>
          <a:p>
            <a:r>
              <a:rPr lang="tr-TR" dirty="0"/>
              <a:t>Sistem Ve Güvenlik Testleri</a:t>
            </a:r>
          </a:p>
        </p:txBody>
      </p:sp>
      <p:sp>
        <p:nvSpPr>
          <p:cNvPr id="6" name="İçerik Yer Tutucusu 5">
            <a:extLst>
              <a:ext uri="{FF2B5EF4-FFF2-40B4-BE49-F238E27FC236}">
                <a16:creationId xmlns:a16="http://schemas.microsoft.com/office/drawing/2014/main" id="{9E30FD0C-6634-84C2-916D-E4EF45744146}"/>
              </a:ext>
            </a:extLst>
          </p:cNvPr>
          <p:cNvSpPr>
            <a:spLocks noGrp="1"/>
          </p:cNvSpPr>
          <p:nvPr>
            <p:ph sz="quarter" idx="4"/>
          </p:nvPr>
        </p:nvSpPr>
        <p:spPr/>
        <p:txBody>
          <a:bodyPr>
            <a:noAutofit/>
          </a:bodyPr>
          <a:lstStyle/>
          <a:p>
            <a:r>
              <a:rPr lang="tr-TR" sz="2000" dirty="0"/>
              <a:t>Kullanıcı kayıt ve giriş sayfalarında hatalı şifre veya boş bırakılan alanlar için sistemin doğru uyarıları verip vermediğinin kontrol edilmesi.</a:t>
            </a:r>
          </a:p>
          <a:p>
            <a:r>
              <a:rPr lang="tr-TR" sz="2000" dirty="0" err="1"/>
              <a:t>Veritabanının</a:t>
            </a:r>
            <a:r>
              <a:rPr lang="tr-TR" sz="2000" dirty="0"/>
              <a:t> şişmesini önlemek amacıyla, tamamlanan derslerin silme butonuyla sistemden ve hafızadan tamamen kaldırıldığının test edilmesi.</a:t>
            </a:r>
          </a:p>
        </p:txBody>
      </p:sp>
    </p:spTree>
    <p:extLst>
      <p:ext uri="{BB962C8B-B14F-4D97-AF65-F5344CB8AC3E}">
        <p14:creationId xmlns:p14="http://schemas.microsoft.com/office/powerpoint/2010/main" val="1443606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50F48D-C019-CB8A-884B-BD8974A9E516}"/>
              </a:ext>
            </a:extLst>
          </p:cNvPr>
          <p:cNvSpPr>
            <a:spLocks noGrp="1"/>
          </p:cNvSpPr>
          <p:nvPr>
            <p:ph type="title"/>
          </p:nvPr>
        </p:nvSpPr>
        <p:spPr/>
        <p:txBody>
          <a:bodyPr/>
          <a:lstStyle/>
          <a:p>
            <a:r>
              <a:rPr lang="tr-TR" b="1" dirty="0"/>
              <a:t>Bakım - Destek</a:t>
            </a:r>
          </a:p>
        </p:txBody>
      </p:sp>
      <p:sp>
        <p:nvSpPr>
          <p:cNvPr id="3" name="İçerik Yer Tutucusu 2">
            <a:extLst>
              <a:ext uri="{FF2B5EF4-FFF2-40B4-BE49-F238E27FC236}">
                <a16:creationId xmlns:a16="http://schemas.microsoft.com/office/drawing/2014/main" id="{30CEB748-A002-E71D-522B-8522A65EFC63}"/>
              </a:ext>
            </a:extLst>
          </p:cNvPr>
          <p:cNvSpPr>
            <a:spLocks noGrp="1"/>
          </p:cNvSpPr>
          <p:nvPr>
            <p:ph idx="1"/>
          </p:nvPr>
        </p:nvSpPr>
        <p:spPr>
          <a:xfrm>
            <a:off x="1090708" y="2715260"/>
            <a:ext cx="8825659" cy="3416300"/>
          </a:xfrm>
        </p:spPr>
        <p:txBody>
          <a:bodyPr>
            <a:normAutofit/>
          </a:bodyPr>
          <a:lstStyle/>
          <a:p>
            <a:r>
              <a:rPr lang="tr-TR" sz="2400" dirty="0"/>
              <a:t>İleride Yapılabilecek güncellemeler;</a:t>
            </a:r>
          </a:p>
          <a:p>
            <a:endParaRPr lang="tr-TR" sz="2400" dirty="0"/>
          </a:p>
          <a:p>
            <a:r>
              <a:rPr lang="tr-TR" sz="2400" dirty="0"/>
              <a:t>Kullanıcının hazırlandığı sınav türünü seçip, girdiği tarihe göre geri sayım aracı eklenebilir.</a:t>
            </a:r>
          </a:p>
          <a:p>
            <a:endParaRPr lang="tr-TR" sz="2400" dirty="0"/>
          </a:p>
          <a:p>
            <a:r>
              <a:rPr lang="tr-TR" sz="2400" dirty="0"/>
              <a:t>Her gün güncellenen motivasyon sözleri köşesi eklenebilir.</a:t>
            </a:r>
          </a:p>
        </p:txBody>
      </p:sp>
    </p:spTree>
    <p:extLst>
      <p:ext uri="{BB962C8B-B14F-4D97-AF65-F5344CB8AC3E}">
        <p14:creationId xmlns:p14="http://schemas.microsoft.com/office/powerpoint/2010/main" val="2769721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DB4A83-87FC-033F-5612-61285A45AE85}"/>
              </a:ext>
            </a:extLst>
          </p:cNvPr>
          <p:cNvSpPr>
            <a:spLocks noGrp="1"/>
          </p:cNvSpPr>
          <p:nvPr>
            <p:ph type="title"/>
          </p:nvPr>
        </p:nvSpPr>
        <p:spPr/>
        <p:txBody>
          <a:bodyPr/>
          <a:lstStyle/>
          <a:p>
            <a:r>
              <a:rPr lang="tr-TR" b="1" dirty="0"/>
              <a:t>Sonuç</a:t>
            </a:r>
          </a:p>
        </p:txBody>
      </p:sp>
      <p:sp>
        <p:nvSpPr>
          <p:cNvPr id="3" name="Metin kutusu 2">
            <a:extLst>
              <a:ext uri="{FF2B5EF4-FFF2-40B4-BE49-F238E27FC236}">
                <a16:creationId xmlns:a16="http://schemas.microsoft.com/office/drawing/2014/main" id="{3FB87B12-D045-D7F9-C10D-07C8A95ABE6F}"/>
              </a:ext>
            </a:extLst>
          </p:cNvPr>
          <p:cNvSpPr txBox="1"/>
          <p:nvPr/>
        </p:nvSpPr>
        <p:spPr>
          <a:xfrm>
            <a:off x="619760" y="2459504"/>
            <a:ext cx="10789920" cy="4093428"/>
          </a:xfrm>
          <a:prstGeom prst="rect">
            <a:avLst/>
          </a:prstGeom>
          <a:noFill/>
        </p:spPr>
        <p:txBody>
          <a:bodyPr wrap="square" rtlCol="0">
            <a:spAutoFit/>
          </a:bodyPr>
          <a:lstStyle/>
          <a:p>
            <a:pPr marL="342900" indent="-342900">
              <a:buFont typeface="Arial" panose="020B0604020202020204" pitchFamily="34" charset="0"/>
              <a:buChar char="•"/>
            </a:pPr>
            <a:r>
              <a:rPr lang="tr-TR" sz="2000" dirty="0"/>
              <a:t>Sonuç olarak; projenin başında hedeflediğim tüm özellikleri başarıyla tamamladım. Bu proje sayesinde okulda gördüğümüz teorik web ve </a:t>
            </a:r>
            <a:r>
              <a:rPr lang="tr-TR" sz="2000" dirty="0" err="1"/>
              <a:t>veritabanı</a:t>
            </a:r>
            <a:r>
              <a:rPr lang="tr-TR" sz="2000" dirty="0"/>
              <a:t> derslerini pratik etme şansı buldum. Ortaya çıkan ürün, şu an bir öğrencinin bilgisayarında tarayıcıyı açıp günlük olarak kullanabileceği kadar kararlı ve eksiksiz çalışmaktadır. Kendim de DGS sınavına hazırlanan bir öğrenci olarak, bu süreçte kendi sitemi kullanma ve değerlendirme şansı buldum. </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Uygulama kısmında (özellikle </a:t>
            </a:r>
            <a:r>
              <a:rPr lang="tr-TR" sz="2000" dirty="0" err="1"/>
              <a:t>html,css,java</a:t>
            </a:r>
            <a:r>
              <a:rPr lang="tr-TR" sz="2000" dirty="0"/>
              <a:t>) pratikte eksik olduğum kısımları fark edip kendimi geliştirme fırsatı buldum. Bu projenin bana kodları anlama ve yazma konusunda çok şey kattığına inanıyorum. Aynı zamanda benim geçtiğim yollardan geçecek öğrenci arkadaşlarıma faydalanabilecekleri çok güzel bir platform oluşturduğuma inanıyorum. İleride domain alarak projemi sunma şansımı da kullanmak isterim.</a:t>
            </a:r>
          </a:p>
        </p:txBody>
      </p:sp>
    </p:spTree>
    <p:extLst>
      <p:ext uri="{BB962C8B-B14F-4D97-AF65-F5344CB8AC3E}">
        <p14:creationId xmlns:p14="http://schemas.microsoft.com/office/powerpoint/2010/main" val="1960119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0EA2C559-05AB-8AFE-FA13-D3B9171BB797}"/>
              </a:ext>
            </a:extLst>
          </p:cNvPr>
          <p:cNvSpPr txBox="1"/>
          <p:nvPr/>
        </p:nvSpPr>
        <p:spPr>
          <a:xfrm>
            <a:off x="487680" y="706735"/>
            <a:ext cx="1907895" cy="461665"/>
          </a:xfrm>
          <a:prstGeom prst="rect">
            <a:avLst/>
          </a:prstGeom>
          <a:noFill/>
        </p:spPr>
        <p:txBody>
          <a:bodyPr wrap="none" rtlCol="0">
            <a:spAutoFit/>
          </a:bodyPr>
          <a:lstStyle/>
          <a:p>
            <a:r>
              <a:rPr lang="tr-TR" sz="2400" b="1" dirty="0"/>
              <a:t>KAYNAKÇA</a:t>
            </a:r>
          </a:p>
        </p:txBody>
      </p:sp>
      <p:sp>
        <p:nvSpPr>
          <p:cNvPr id="3" name="Metin kutusu 2">
            <a:extLst>
              <a:ext uri="{FF2B5EF4-FFF2-40B4-BE49-F238E27FC236}">
                <a16:creationId xmlns:a16="http://schemas.microsoft.com/office/drawing/2014/main" id="{2B6194FD-FEB7-9984-EBD8-F65DE942F634}"/>
              </a:ext>
            </a:extLst>
          </p:cNvPr>
          <p:cNvSpPr txBox="1"/>
          <p:nvPr/>
        </p:nvSpPr>
        <p:spPr>
          <a:xfrm>
            <a:off x="220898" y="1168400"/>
            <a:ext cx="10525760" cy="5324535"/>
          </a:xfrm>
          <a:prstGeom prst="rect">
            <a:avLst/>
          </a:prstGeom>
          <a:noFill/>
        </p:spPr>
        <p:txBody>
          <a:bodyPr wrap="square" rtlCol="0">
            <a:spAutoFit/>
          </a:bodyPr>
          <a:lstStyle/>
          <a:p>
            <a:pPr marL="342900" indent="-342900">
              <a:buFont typeface="Arial" panose="020B0604020202020204" pitchFamily="34" charset="0"/>
              <a:buChar char="•"/>
            </a:pPr>
            <a:r>
              <a:rPr lang="tr-TR" sz="2000" dirty="0">
                <a:hlinkClick r:id="rId2"/>
              </a:rPr>
              <a:t>https://www.udemy.com/course/sifirdan-ileri-duzey-web-programlama-html-css-javascript/learn/lecture/44536375#overview</a:t>
            </a:r>
            <a:endParaRPr lang="tr-TR" sz="2000" dirty="0"/>
          </a:p>
          <a:p>
            <a:pPr marL="342900" indent="-342900">
              <a:buFont typeface="Arial" panose="020B0604020202020204" pitchFamily="34" charset="0"/>
              <a:buChar char="•"/>
            </a:pPr>
            <a:r>
              <a:rPr lang="tr-TR" sz="2000" dirty="0">
                <a:hlinkClick r:id="rId3"/>
              </a:rPr>
              <a:t>https://www.btkakademi.gov.tr/portal/course/player/deliver/html5-ile-web-gelistirme-13200</a:t>
            </a:r>
            <a:endParaRPr lang="tr-TR" sz="2000" dirty="0"/>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hlinkClick r:id="rId4"/>
              </a:rPr>
              <a:t>https://www.w3schools.com/html/html_colors.asp</a:t>
            </a:r>
            <a:endParaRPr lang="tr-TR" sz="2000" dirty="0"/>
          </a:p>
          <a:p>
            <a:pPr marL="342900" indent="-342900">
              <a:buFont typeface="Arial" panose="020B0604020202020204" pitchFamily="34" charset="0"/>
              <a:buChar char="•"/>
            </a:pPr>
            <a:r>
              <a:rPr lang="tr-TR" sz="2000" dirty="0">
                <a:hlinkClick r:id="rId5"/>
              </a:rPr>
              <a:t>https://www.w3schools.com/css/css_boxmodel.asp</a:t>
            </a:r>
            <a:endParaRPr lang="tr-TR" sz="2000" dirty="0"/>
          </a:p>
          <a:p>
            <a:pPr marL="342900" indent="-342900">
              <a:buFont typeface="Arial" panose="020B0604020202020204" pitchFamily="34" charset="0"/>
              <a:buChar char="•"/>
            </a:pPr>
            <a:r>
              <a:rPr lang="tr-TR" sz="2000" dirty="0">
                <a:hlinkClick r:id="rId6"/>
              </a:rPr>
              <a:t>https://www.w3schools.com/js/js_project_counter.asp</a:t>
            </a:r>
            <a:endParaRPr lang="tr-TR" sz="2000" dirty="0"/>
          </a:p>
          <a:p>
            <a:pPr marL="342900" indent="-342900">
              <a:buFont typeface="Arial" panose="020B0604020202020204" pitchFamily="34" charset="0"/>
              <a:buChar char="•"/>
            </a:pPr>
            <a:r>
              <a:rPr lang="tr-TR" sz="2000" dirty="0">
                <a:hlinkClick r:id="rId7"/>
              </a:rPr>
              <a:t>https://www.w3schools.com/sql/sql_create_db.asp</a:t>
            </a:r>
            <a:endParaRPr lang="tr-TR" sz="2000" dirty="0"/>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hlinkClick r:id="rId8"/>
              </a:rPr>
              <a:t>https://www.youtube.com/watch?v=kUar8gU-6Io&amp;list=PL1TEcULbcSLH6uCQSRs5Zf62yEf2-5xXz</a:t>
            </a:r>
            <a:endParaRPr lang="tr-TR" sz="2000" dirty="0"/>
          </a:p>
          <a:p>
            <a:pPr marL="342900" indent="-342900">
              <a:buFont typeface="Arial" panose="020B0604020202020204" pitchFamily="34" charset="0"/>
              <a:buChar char="•"/>
            </a:pPr>
            <a:r>
              <a:rPr lang="tr-TR" sz="2000" dirty="0">
                <a:hlinkClick r:id="rId9"/>
              </a:rPr>
              <a:t>https://www.youtube.com/watch?v=-ei7CLxoOVU</a:t>
            </a:r>
            <a:endParaRPr lang="tr-TR" sz="2000" dirty="0"/>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hlinkClick r:id="rId10"/>
              </a:rPr>
              <a:t>https://nodejs.org/en</a:t>
            </a:r>
            <a:endParaRPr lang="tr-TR" sz="2000" dirty="0"/>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hlinkClick r:id="rId11"/>
              </a:rPr>
              <a:t>https://chatgpt.com/</a:t>
            </a:r>
            <a:endParaRPr lang="tr-TR" sz="2000" dirty="0"/>
          </a:p>
        </p:txBody>
      </p:sp>
    </p:spTree>
    <p:extLst>
      <p:ext uri="{BB962C8B-B14F-4D97-AF65-F5344CB8AC3E}">
        <p14:creationId xmlns:p14="http://schemas.microsoft.com/office/powerpoint/2010/main" val="3639467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7DD1D0-FFCA-B836-CE74-E26FB2600A95}"/>
              </a:ext>
            </a:extLst>
          </p:cNvPr>
          <p:cNvSpPr>
            <a:spLocks noGrp="1"/>
          </p:cNvSpPr>
          <p:nvPr>
            <p:ph type="ctrTitle"/>
          </p:nvPr>
        </p:nvSpPr>
        <p:spPr>
          <a:xfrm>
            <a:off x="3445000" y="2285672"/>
            <a:ext cx="8825658" cy="988907"/>
          </a:xfrm>
        </p:spPr>
        <p:txBody>
          <a:bodyPr/>
          <a:lstStyle/>
          <a:p>
            <a:r>
              <a:rPr lang="tr-TR" dirty="0"/>
              <a:t>TEŞEKKÜRLER.</a:t>
            </a:r>
          </a:p>
        </p:txBody>
      </p:sp>
      <p:sp>
        <p:nvSpPr>
          <p:cNvPr id="3" name="Alt Başlık 2">
            <a:extLst>
              <a:ext uri="{FF2B5EF4-FFF2-40B4-BE49-F238E27FC236}">
                <a16:creationId xmlns:a16="http://schemas.microsoft.com/office/drawing/2014/main" id="{86BFB7F7-AF5A-9BED-5BB4-1E41A9B6E0B7}"/>
              </a:ext>
            </a:extLst>
          </p:cNvPr>
          <p:cNvSpPr>
            <a:spLocks noGrp="1"/>
          </p:cNvSpPr>
          <p:nvPr>
            <p:ph type="subTitle" idx="1"/>
          </p:nvPr>
        </p:nvSpPr>
        <p:spPr>
          <a:xfrm>
            <a:off x="545355" y="4513334"/>
            <a:ext cx="8825658" cy="1971040"/>
          </a:xfrm>
        </p:spPr>
        <p:txBody>
          <a:bodyPr>
            <a:normAutofit/>
          </a:bodyPr>
          <a:lstStyle/>
          <a:p>
            <a:r>
              <a:rPr lang="tr-TR" sz="2000" dirty="0"/>
              <a:t>Hazırlayan: sıla kınalı</a:t>
            </a:r>
          </a:p>
          <a:p>
            <a:r>
              <a:rPr lang="tr-TR" sz="2000" dirty="0"/>
              <a:t>Öğrenci </a:t>
            </a:r>
            <a:r>
              <a:rPr lang="tr-TR" sz="2000" dirty="0" err="1"/>
              <a:t>no</a:t>
            </a:r>
            <a:r>
              <a:rPr lang="tr-TR" sz="2000" dirty="0"/>
              <a:t>: 262484036</a:t>
            </a:r>
          </a:p>
          <a:p>
            <a:r>
              <a:rPr lang="tr-TR" sz="2000" dirty="0"/>
              <a:t>İletişim: kksila@gmail.com</a:t>
            </a:r>
          </a:p>
          <a:p>
            <a:r>
              <a:rPr lang="tr-TR" sz="2000" dirty="0"/>
              <a:t>Danışman hoca: </a:t>
            </a:r>
            <a:r>
              <a:rPr lang="tr-TR" sz="2000" dirty="0" err="1"/>
              <a:t>koray</a:t>
            </a:r>
            <a:r>
              <a:rPr lang="tr-TR" sz="2000" dirty="0"/>
              <a:t> </a:t>
            </a:r>
            <a:r>
              <a:rPr lang="tr-TR" sz="2000" dirty="0" err="1"/>
              <a:t>çoşkun</a:t>
            </a:r>
            <a:endParaRPr lang="tr-TR" sz="2000" dirty="0"/>
          </a:p>
        </p:txBody>
      </p:sp>
    </p:spTree>
    <p:extLst>
      <p:ext uri="{BB962C8B-B14F-4D97-AF65-F5344CB8AC3E}">
        <p14:creationId xmlns:p14="http://schemas.microsoft.com/office/powerpoint/2010/main" val="4238388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Toplantı Odası">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TM02900722[[fn=İyon Toplantı Odası]]</Template>
  <TotalTime>1812</TotalTime>
  <Words>859</Words>
  <Application>Microsoft Office PowerPoint</Application>
  <PresentationFormat>Geniş ekran</PresentationFormat>
  <Paragraphs>101</Paragraphs>
  <Slides>14</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14</vt:i4>
      </vt:variant>
    </vt:vector>
  </HeadingPairs>
  <TitlesOfParts>
    <vt:vector size="19" baseType="lpstr">
      <vt:lpstr>Aptos</vt:lpstr>
      <vt:lpstr>Arial</vt:lpstr>
      <vt:lpstr>Century Gothic</vt:lpstr>
      <vt:lpstr>Wingdings 3</vt:lpstr>
      <vt:lpstr>İyon Toplantı Odası</vt:lpstr>
      <vt:lpstr>ExamTrack</vt:lpstr>
      <vt:lpstr>Proje Tanımı;</vt:lpstr>
      <vt:lpstr>PowerPoint Sunusu</vt:lpstr>
      <vt:lpstr>Planlama – Süreç Modeli</vt:lpstr>
      <vt:lpstr>Analiz</vt:lpstr>
      <vt:lpstr>Tasarım – Kağıt Prototip</vt:lpstr>
      <vt:lpstr>Tasarım</vt:lpstr>
      <vt:lpstr>PowerPoint Sunusu</vt:lpstr>
      <vt:lpstr>Kodlama</vt:lpstr>
      <vt:lpstr>BAKIM</vt:lpstr>
      <vt:lpstr>Bakım - Destek</vt:lpstr>
      <vt:lpstr>Sonuç</vt:lpstr>
      <vt:lpstr>PowerPoint Sunusu</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Sıla kınalı</dc:creator>
  <cp:lastModifiedBy>Sıla kınalı</cp:lastModifiedBy>
  <cp:revision>1</cp:revision>
  <dcterms:created xsi:type="dcterms:W3CDTF">2026-06-10T16:07:12Z</dcterms:created>
  <dcterms:modified xsi:type="dcterms:W3CDTF">2026-06-13T14:33:30Z</dcterms:modified>
</cp:coreProperties>
</file>